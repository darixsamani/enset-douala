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0" r:id="rId14"/>
    <p:sldId id="281" r:id="rId15"/>
    <p:sldId id="268" r:id="rId16"/>
    <p:sldId id="270" r:id="rId17"/>
    <p:sldId id="271" r:id="rId18"/>
    <p:sldId id="272" r:id="rId19"/>
    <p:sldId id="273" r:id="rId20"/>
    <p:sldId id="274" r:id="rId21"/>
    <p:sldId id="275" r:id="rId22"/>
    <p:sldId id="276" r:id="rId23"/>
    <p:sldId id="277" r:id="rId24"/>
    <p:sldId id="278" r:id="rId25"/>
    <p:sldId id="279" r:id="rId26"/>
    <p:sldId id="282"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fr-FR" smtClean="0"/>
              <a:t>Modifiez le style du titre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dirty="0"/>
          </a:p>
        </p:txBody>
      </p:sp>
      <p:sp>
        <p:nvSpPr>
          <p:cNvPr id="7" name="Date Placeholder 6"/>
          <p:cNvSpPr>
            <a:spLocks noGrp="1"/>
          </p:cNvSpPr>
          <p:nvPr>
            <p:ph type="dt" sz="half" idx="10"/>
          </p:nvPr>
        </p:nvSpPr>
        <p:spPr/>
        <p:txBody>
          <a:bodyPr/>
          <a:lstStyle/>
          <a:p>
            <a:fld id="{6B215621-4ADF-408A-A6E9-FFB2179E99F9}" type="datetimeFigureOut">
              <a:rPr lang="fr-CM" smtClean="0"/>
              <a:t>26/09/2026</a:t>
            </a:fld>
            <a:endParaRPr lang="fr-CM"/>
          </a:p>
        </p:txBody>
      </p:sp>
      <p:sp>
        <p:nvSpPr>
          <p:cNvPr id="8" name="Footer Placeholder 7"/>
          <p:cNvSpPr>
            <a:spLocks noGrp="1"/>
          </p:cNvSpPr>
          <p:nvPr>
            <p:ph type="ftr" sz="quarter" idx="11"/>
          </p:nvPr>
        </p:nvSpPr>
        <p:spPr/>
        <p:txBody>
          <a:bodyPr/>
          <a:lstStyle/>
          <a:p>
            <a:endParaRPr lang="fr-CM"/>
          </a:p>
        </p:txBody>
      </p:sp>
      <p:sp>
        <p:nvSpPr>
          <p:cNvPr id="9" name="Slide Number Placeholder 8"/>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39421118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6B215621-4ADF-408A-A6E9-FFB2179E99F9}" type="datetimeFigureOut">
              <a:rPr lang="fr-CM" smtClean="0"/>
              <a:t>26/09/2026</a:t>
            </a:fld>
            <a:endParaRPr lang="fr-CM"/>
          </a:p>
        </p:txBody>
      </p:sp>
      <p:sp>
        <p:nvSpPr>
          <p:cNvPr id="8" name="Footer Placeholder 7"/>
          <p:cNvSpPr>
            <a:spLocks noGrp="1"/>
          </p:cNvSpPr>
          <p:nvPr>
            <p:ph type="ftr" sz="quarter" idx="11"/>
          </p:nvPr>
        </p:nvSpPr>
        <p:spPr/>
        <p:txBody>
          <a:bodyPr/>
          <a:lstStyle/>
          <a:p>
            <a:endParaRPr lang="fr-CM"/>
          </a:p>
        </p:txBody>
      </p:sp>
      <p:sp>
        <p:nvSpPr>
          <p:cNvPr id="9" name="Slide Number Placeholder 8"/>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41158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7" name="Date Placeholder 6"/>
          <p:cNvSpPr>
            <a:spLocks noGrp="1"/>
          </p:cNvSpPr>
          <p:nvPr>
            <p:ph type="dt" sz="half" idx="10"/>
          </p:nvPr>
        </p:nvSpPr>
        <p:spPr/>
        <p:txBody>
          <a:bodyPr/>
          <a:lstStyle/>
          <a:p>
            <a:fld id="{6B215621-4ADF-408A-A6E9-FFB2179E99F9}" type="datetimeFigureOut">
              <a:rPr lang="fr-CM" smtClean="0"/>
              <a:t>26/09/2026</a:t>
            </a:fld>
            <a:endParaRPr lang="fr-CM"/>
          </a:p>
        </p:txBody>
      </p:sp>
      <p:sp>
        <p:nvSpPr>
          <p:cNvPr id="8" name="Footer Placeholder 7"/>
          <p:cNvSpPr>
            <a:spLocks noGrp="1"/>
          </p:cNvSpPr>
          <p:nvPr>
            <p:ph type="ftr" sz="quarter" idx="11"/>
          </p:nvPr>
        </p:nvSpPr>
        <p:spPr/>
        <p:txBody>
          <a:bodyPr/>
          <a:lstStyle/>
          <a:p>
            <a:endParaRPr lang="fr-CM"/>
          </a:p>
        </p:txBody>
      </p:sp>
      <p:sp>
        <p:nvSpPr>
          <p:cNvPr id="9" name="Slide Number Placeholder 8"/>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69577418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8" name="Date Placeholder 7"/>
          <p:cNvSpPr>
            <a:spLocks noGrp="1"/>
          </p:cNvSpPr>
          <p:nvPr>
            <p:ph type="dt" sz="half" idx="10"/>
          </p:nvPr>
        </p:nvSpPr>
        <p:spPr/>
        <p:txBody>
          <a:bodyPr/>
          <a:lstStyle/>
          <a:p>
            <a:fld id="{6B215621-4ADF-408A-A6E9-FFB2179E99F9}" type="datetimeFigureOut">
              <a:rPr lang="fr-CM" smtClean="0"/>
              <a:t>26/09/2026</a:t>
            </a:fld>
            <a:endParaRPr lang="fr-CM"/>
          </a:p>
        </p:txBody>
      </p:sp>
      <p:sp>
        <p:nvSpPr>
          <p:cNvPr id="9" name="Footer Placeholder 8"/>
          <p:cNvSpPr>
            <a:spLocks noGrp="1"/>
          </p:cNvSpPr>
          <p:nvPr>
            <p:ph type="ftr" sz="quarter" idx="11"/>
          </p:nvPr>
        </p:nvSpPr>
        <p:spPr/>
        <p:txBody>
          <a:bodyPr/>
          <a:lstStyle/>
          <a:p>
            <a:endParaRPr lang="fr-CM"/>
          </a:p>
        </p:txBody>
      </p:sp>
      <p:sp>
        <p:nvSpPr>
          <p:cNvPr id="10" name="Slide Number Placeholder 9"/>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224850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583436" y="3143250"/>
            <a:ext cx="4270248" cy="2596776"/>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7" name="Date Placeholder 6"/>
          <p:cNvSpPr>
            <a:spLocks noGrp="1"/>
          </p:cNvSpPr>
          <p:nvPr>
            <p:ph type="dt" sz="half" idx="10"/>
          </p:nvPr>
        </p:nvSpPr>
        <p:spPr/>
        <p:txBody>
          <a:bodyPr/>
          <a:lstStyle/>
          <a:p>
            <a:fld id="{6B215621-4ADF-408A-A6E9-FFB2179E99F9}" type="datetimeFigureOut">
              <a:rPr lang="fr-CM" smtClean="0"/>
              <a:t>26/09/2026</a:t>
            </a:fld>
            <a:endParaRPr lang="fr-CM"/>
          </a:p>
        </p:txBody>
      </p:sp>
      <p:sp>
        <p:nvSpPr>
          <p:cNvPr id="8" name="Footer Placeholder 7"/>
          <p:cNvSpPr>
            <a:spLocks noGrp="1"/>
          </p:cNvSpPr>
          <p:nvPr>
            <p:ph type="ftr" sz="quarter" idx="11"/>
          </p:nvPr>
        </p:nvSpPr>
        <p:spPr/>
        <p:txBody>
          <a:bodyPr/>
          <a:lstStyle/>
          <a:p>
            <a:endParaRPr lang="fr-CM"/>
          </a:p>
        </p:txBody>
      </p:sp>
      <p:sp>
        <p:nvSpPr>
          <p:cNvPr id="9" name="Slide Number Placeholder 8"/>
          <p:cNvSpPr>
            <a:spLocks noGrp="1"/>
          </p:cNvSpPr>
          <p:nvPr>
            <p:ph type="sldNum" sz="quarter" idx="12"/>
          </p:nvPr>
        </p:nvSpPr>
        <p:spPr/>
        <p:txBody>
          <a:bodyPr/>
          <a:lstStyle/>
          <a:p>
            <a:fld id="{347716DD-AB15-4B50-AB5C-ACA11607178A}" type="slidenum">
              <a:rPr lang="fr-CM" smtClean="0"/>
              <a:t>‹N°›</a:t>
            </a:fld>
            <a:endParaRPr lang="fr-CM"/>
          </a:p>
        </p:txBody>
      </p:sp>
      <p:sp>
        <p:nvSpPr>
          <p:cNvPr id="10" name="Title 9"/>
          <p:cNvSpPr>
            <a:spLocks noGrp="1"/>
          </p:cNvSpPr>
          <p:nvPr>
            <p:ph type="title"/>
          </p:nvPr>
        </p:nvSpPr>
        <p:spPr/>
        <p:txBody>
          <a:bodyPr/>
          <a:lstStyle/>
          <a:p>
            <a:r>
              <a:rPr lang="fr-FR" smtClean="0"/>
              <a:t>Modifiez le style du titre</a:t>
            </a:r>
            <a:endParaRPr lang="en-US" dirty="0"/>
          </a:p>
        </p:txBody>
      </p:sp>
    </p:spTree>
    <p:extLst>
      <p:ext uri="{BB962C8B-B14F-4D97-AF65-F5344CB8AC3E}">
        <p14:creationId xmlns:p14="http://schemas.microsoft.com/office/powerpoint/2010/main" val="1123349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6B215621-4ADF-408A-A6E9-FFB2179E99F9}" type="datetimeFigureOut">
              <a:rPr lang="fr-CM" smtClean="0"/>
              <a:t>26/09/2026</a:t>
            </a:fld>
            <a:endParaRPr lang="fr-CM"/>
          </a:p>
        </p:txBody>
      </p:sp>
      <p:sp>
        <p:nvSpPr>
          <p:cNvPr id="4" name="Footer Placeholder 3"/>
          <p:cNvSpPr>
            <a:spLocks noGrp="1"/>
          </p:cNvSpPr>
          <p:nvPr>
            <p:ph type="ftr" sz="quarter" idx="11"/>
          </p:nvPr>
        </p:nvSpPr>
        <p:spPr/>
        <p:txBody>
          <a:bodyPr/>
          <a:lstStyle/>
          <a:p>
            <a:endParaRPr lang="fr-CM"/>
          </a:p>
        </p:txBody>
      </p:sp>
      <p:sp>
        <p:nvSpPr>
          <p:cNvPr id="5" name="Slide Number Placeholder 4"/>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2905238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215621-4ADF-408A-A6E9-FFB2179E99F9}" type="datetimeFigureOut">
              <a:rPr lang="fr-CM" smtClean="0"/>
              <a:t>26/09/2026</a:t>
            </a:fld>
            <a:endParaRPr lang="fr-CM"/>
          </a:p>
        </p:txBody>
      </p:sp>
      <p:sp>
        <p:nvSpPr>
          <p:cNvPr id="3" name="Footer Placeholder 2"/>
          <p:cNvSpPr>
            <a:spLocks noGrp="1"/>
          </p:cNvSpPr>
          <p:nvPr>
            <p:ph type="ftr" sz="quarter" idx="11"/>
          </p:nvPr>
        </p:nvSpPr>
        <p:spPr/>
        <p:txBody>
          <a:bodyPr/>
          <a:lstStyle/>
          <a:p>
            <a:endParaRPr lang="fr-CM"/>
          </a:p>
        </p:txBody>
      </p:sp>
      <p:sp>
        <p:nvSpPr>
          <p:cNvPr id="4" name="Slide Number Placeholder 3"/>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2180976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fr-FR" smtClean="0"/>
              <a:t>Modifiez le style du titre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9" name="Date Placeholder 8"/>
          <p:cNvSpPr>
            <a:spLocks noGrp="1"/>
          </p:cNvSpPr>
          <p:nvPr>
            <p:ph type="dt" sz="half" idx="10"/>
          </p:nvPr>
        </p:nvSpPr>
        <p:spPr/>
        <p:txBody>
          <a:bodyPr/>
          <a:lstStyle/>
          <a:p>
            <a:fld id="{6B215621-4ADF-408A-A6E9-FFB2179E99F9}" type="datetimeFigureOut">
              <a:rPr lang="fr-CM" smtClean="0"/>
              <a:t>26/09/2026</a:t>
            </a:fld>
            <a:endParaRPr lang="fr-CM"/>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fr-CM"/>
          </a:p>
        </p:txBody>
      </p:sp>
      <p:sp>
        <p:nvSpPr>
          <p:cNvPr id="11" name="Slide Number Placeholder 10"/>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857201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6B215621-4ADF-408A-A6E9-FFB2179E99F9}" type="datetimeFigureOut">
              <a:rPr lang="fr-CM" smtClean="0"/>
              <a:t>26/09/2026</a:t>
            </a:fld>
            <a:endParaRPr lang="fr-CM"/>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fr-CM"/>
          </a:p>
        </p:txBody>
      </p:sp>
      <p:sp>
        <p:nvSpPr>
          <p:cNvPr id="10" name="Slide Number Placeholder 9"/>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333215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6B215621-4ADF-408A-A6E9-FFB2179E99F9}" type="datetimeFigureOut">
              <a:rPr lang="fr-CM" smtClean="0"/>
              <a:t>26/09/2026</a:t>
            </a:fld>
            <a:endParaRPr lang="fr-CM"/>
          </a:p>
        </p:txBody>
      </p:sp>
      <p:sp>
        <p:nvSpPr>
          <p:cNvPr id="5" name="Footer Placeholder 4"/>
          <p:cNvSpPr>
            <a:spLocks noGrp="1"/>
          </p:cNvSpPr>
          <p:nvPr>
            <p:ph type="ftr" sz="quarter" idx="11"/>
          </p:nvPr>
        </p:nvSpPr>
        <p:spPr/>
        <p:txBody>
          <a:bodyPr/>
          <a:lstStyle/>
          <a:p>
            <a:endParaRPr lang="fr-CM"/>
          </a:p>
        </p:txBody>
      </p:sp>
      <p:sp>
        <p:nvSpPr>
          <p:cNvPr id="6" name="Slide Number Placeholder 5"/>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2472816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6B215621-4ADF-408A-A6E9-FFB2179E99F9}" type="datetimeFigureOut">
              <a:rPr lang="fr-CM" smtClean="0"/>
              <a:t>26/09/2026</a:t>
            </a:fld>
            <a:endParaRPr lang="fr-CM"/>
          </a:p>
        </p:txBody>
      </p:sp>
      <p:sp>
        <p:nvSpPr>
          <p:cNvPr id="5" name="Footer Placeholder 4"/>
          <p:cNvSpPr>
            <a:spLocks noGrp="1"/>
          </p:cNvSpPr>
          <p:nvPr>
            <p:ph type="ftr" sz="quarter" idx="11"/>
          </p:nvPr>
        </p:nvSpPr>
        <p:spPr/>
        <p:txBody>
          <a:bodyPr/>
          <a:lstStyle/>
          <a:p>
            <a:endParaRPr lang="fr-CM"/>
          </a:p>
        </p:txBody>
      </p:sp>
      <p:sp>
        <p:nvSpPr>
          <p:cNvPr id="6" name="Slide Number Placeholder 5"/>
          <p:cNvSpPr>
            <a:spLocks noGrp="1"/>
          </p:cNvSpPr>
          <p:nvPr>
            <p:ph type="sldNum" sz="quarter" idx="12"/>
          </p:nvPr>
        </p:nvSpPr>
        <p:spPr/>
        <p:txBody>
          <a:bodyPr/>
          <a:lstStyle/>
          <a:p>
            <a:fld id="{347716DD-AB15-4B50-AB5C-ACA11607178A}" type="slidenum">
              <a:rPr lang="fr-CM" smtClean="0"/>
              <a:t>‹N°›</a:t>
            </a:fld>
            <a:endParaRPr lang="fr-CM"/>
          </a:p>
        </p:txBody>
      </p:sp>
    </p:spTree>
    <p:extLst>
      <p:ext uri="{BB962C8B-B14F-4D97-AF65-F5344CB8AC3E}">
        <p14:creationId xmlns:p14="http://schemas.microsoft.com/office/powerpoint/2010/main" val="757521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6B215621-4ADF-408A-A6E9-FFB2179E99F9}" type="datetimeFigureOut">
              <a:rPr lang="fr-CM" smtClean="0"/>
              <a:t>26/09/2026</a:t>
            </a:fld>
            <a:endParaRPr lang="fr-CM"/>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fr-CM"/>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47716DD-AB15-4B50-AB5C-ACA11607178A}" type="slidenum">
              <a:rPr lang="fr-CM" smtClean="0"/>
              <a:t>‹N°›</a:t>
            </a:fld>
            <a:endParaRPr lang="fr-CM"/>
          </a:p>
        </p:txBody>
      </p:sp>
    </p:spTree>
    <p:extLst>
      <p:ext uri="{BB962C8B-B14F-4D97-AF65-F5344CB8AC3E}">
        <p14:creationId xmlns:p14="http://schemas.microsoft.com/office/powerpoint/2010/main" val="29329238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a:bodyPr>
          <a:lstStyle/>
          <a:p>
            <a:r>
              <a:rPr lang="fr-FR" b="1" dirty="0">
                <a:latin typeface="Times New Roman" panose="02020603050405020304" pitchFamily="18" charset="0"/>
                <a:cs typeface="Times New Roman" panose="02020603050405020304" pitchFamily="18" charset="0"/>
              </a:rPr>
              <a:t>Module 1 : </a:t>
            </a:r>
            <a:r>
              <a:rPr lang="fr-FR" b="1" dirty="0" smtClean="0">
                <a:latin typeface="Times New Roman" panose="02020603050405020304" pitchFamily="18" charset="0"/>
                <a:cs typeface="Times New Roman" panose="02020603050405020304" pitchFamily="18" charset="0"/>
              </a:rPr>
              <a:t/>
            </a:r>
            <a:br>
              <a:rPr lang="fr-FR" b="1" dirty="0" smtClean="0">
                <a:latin typeface="Times New Roman" panose="02020603050405020304" pitchFamily="18" charset="0"/>
                <a:cs typeface="Times New Roman" panose="02020603050405020304" pitchFamily="18" charset="0"/>
              </a:rPr>
            </a:br>
            <a:endParaRPr lang="fr-CM" dirty="0">
              <a:latin typeface="Times New Roman" panose="02020603050405020304" pitchFamily="18" charset="0"/>
              <a:cs typeface="Times New Roman" panose="02020603050405020304" pitchFamily="18" charset="0"/>
            </a:endParaRPr>
          </a:p>
        </p:txBody>
      </p:sp>
      <p:sp>
        <p:nvSpPr>
          <p:cNvPr id="3" name="Sous-titre 2"/>
          <p:cNvSpPr>
            <a:spLocks noGrp="1"/>
          </p:cNvSpPr>
          <p:nvPr>
            <p:ph type="subTitle" idx="1"/>
          </p:nvPr>
        </p:nvSpPr>
        <p:spPr>
          <a:xfrm>
            <a:off x="1524000" y="4165456"/>
            <a:ext cx="9144000" cy="1655762"/>
          </a:xfrm>
        </p:spPr>
        <p:txBody>
          <a:bodyPr>
            <a:normAutofit/>
          </a:bodyPr>
          <a:lstStyle/>
          <a:p>
            <a:r>
              <a:rPr lang="fr-FR" sz="4400" b="1" dirty="0" smtClean="0">
                <a:latin typeface="Times New Roman" panose="02020603050405020304" pitchFamily="18" charset="0"/>
                <a:cs typeface="Times New Roman" panose="02020603050405020304" pitchFamily="18" charset="0"/>
              </a:rPr>
              <a:t>Développement web Front-End</a:t>
            </a:r>
            <a:r>
              <a:rPr lang="fr-FR" sz="4400" dirty="0" smtClean="0">
                <a:latin typeface="Times New Roman" panose="02020603050405020304" pitchFamily="18" charset="0"/>
                <a:cs typeface="Times New Roman" panose="02020603050405020304" pitchFamily="18" charset="0"/>
              </a:rPr>
              <a:t/>
            </a:r>
            <a:br>
              <a:rPr lang="fr-FR" sz="4400" dirty="0" smtClean="0">
                <a:latin typeface="Times New Roman" panose="02020603050405020304" pitchFamily="18" charset="0"/>
                <a:cs typeface="Times New Roman" panose="02020603050405020304" pitchFamily="18" charset="0"/>
              </a:rPr>
            </a:br>
            <a:endParaRPr lang="fr-CM"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792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15863" y="778694"/>
            <a:ext cx="7729728" cy="1188720"/>
          </a:xfrm>
        </p:spPr>
        <p:txBody>
          <a:bodyPr/>
          <a:lstStyle/>
          <a:p>
            <a:pPr algn="ctr"/>
            <a:r>
              <a:rPr lang="fr-FR" b="1" dirty="0" smtClean="0">
                <a:latin typeface="Times New Roman" panose="02020603050405020304" pitchFamily="18" charset="0"/>
                <a:cs typeface="Times New Roman" panose="02020603050405020304" pitchFamily="18" charset="0"/>
              </a:rPr>
              <a:t>LES CONCEPTS DE BASE DU WEB FRONT-END</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1062182" y="2462552"/>
            <a:ext cx="9956800" cy="3101983"/>
          </a:xfrm>
        </p:spPr>
        <p:txBody>
          <a:bodyPr>
            <a:noAutofit/>
          </a:bodyPr>
          <a:lstStyle/>
          <a:p>
            <a:pPr marL="0" indent="0" algn="just">
              <a:buNone/>
            </a:pPr>
            <a:r>
              <a:rPr lang="fr-FR" sz="2800" dirty="0" smtClean="0">
                <a:latin typeface="Times New Roman" panose="02020603050405020304" pitchFamily="18" charset="0"/>
                <a:cs typeface="Times New Roman" panose="02020603050405020304" pitchFamily="18" charset="0"/>
              </a:rPr>
              <a:t>- </a:t>
            </a:r>
            <a:r>
              <a:rPr lang="fr-FR" sz="2800" b="1" u="sng" dirty="0" smtClean="0">
                <a:latin typeface="Times New Roman" panose="02020603050405020304" pitchFamily="18" charset="0"/>
                <a:cs typeface="Times New Roman" panose="02020603050405020304" pitchFamily="18" charset="0"/>
              </a:rPr>
              <a:t>Fondamentaux des sites web statiques</a:t>
            </a:r>
          </a:p>
          <a:p>
            <a:pPr marL="0" indent="0" algn="just">
              <a:buNone/>
            </a:pPr>
            <a:r>
              <a:rPr lang="fr-FR" sz="2800" dirty="0">
                <a:latin typeface="Times New Roman" panose="02020603050405020304" pitchFamily="18" charset="0"/>
                <a:cs typeface="Times New Roman" panose="02020603050405020304" pitchFamily="18" charset="0"/>
              </a:rPr>
              <a:t>	</a:t>
            </a:r>
            <a:r>
              <a:rPr lang="fr-FR" sz="2800" dirty="0" smtClean="0">
                <a:latin typeface="Times New Roman" panose="02020603050405020304" pitchFamily="18" charset="0"/>
                <a:cs typeface="Times New Roman" panose="02020603050405020304" pitchFamily="18" charset="0"/>
              </a:rPr>
              <a:t>Un site Web statique consiste en une série de fichiers HTML, chacun représentant une page physique d'un site Web. Sur les sites statiques, chaque page est un fichier HTML distinct. </a:t>
            </a:r>
          </a:p>
          <a:p>
            <a:pPr marL="0" indent="0" algn="just">
              <a:buNone/>
            </a:pPr>
            <a:r>
              <a:rPr lang="fr-FR" sz="2800" dirty="0" smtClean="0">
                <a:latin typeface="Times New Roman" panose="02020603050405020304" pitchFamily="18" charset="0"/>
                <a:cs typeface="Times New Roman" panose="02020603050405020304" pitchFamily="18" charset="0"/>
              </a:rPr>
              <a:t>	Les sites Web statiques sont assez simples et tous les sites Web ont été construits de cette façon pendant les premières années du World Wide Web. </a:t>
            </a: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0727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sz="4800" b="1" dirty="0" smtClean="0">
                <a:latin typeface="Times New Roman" panose="02020603050405020304" pitchFamily="18" charset="0"/>
                <a:cs typeface="Times New Roman" panose="02020603050405020304" pitchFamily="18" charset="0"/>
              </a:rPr>
              <a:t>C’est quoi le front-end?</a:t>
            </a:r>
            <a:endParaRPr lang="fr-CM" sz="4800"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969817" y="2638044"/>
            <a:ext cx="9966037" cy="3101983"/>
          </a:xfrm>
        </p:spPr>
        <p:txBody>
          <a:bodyPr>
            <a:normAutofit/>
          </a:bodyPr>
          <a:lstStyle/>
          <a:p>
            <a:pPr marL="0" indent="0" algn="just">
              <a:buNone/>
            </a:pPr>
            <a:r>
              <a:rPr lang="fr-FR" sz="2400" dirty="0">
                <a:latin typeface="Times New Roman" panose="02020603050405020304" pitchFamily="18" charset="0"/>
                <a:cs typeface="Times New Roman" panose="02020603050405020304" pitchFamily="18" charset="0"/>
              </a:rPr>
              <a:t>Le front-end </a:t>
            </a:r>
            <a:endParaRPr lang="fr-FR" sz="24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fr-FR" sz="2400" dirty="0" smtClean="0">
                <a:latin typeface="Times New Roman" panose="02020603050405020304" pitchFamily="18" charset="0"/>
                <a:cs typeface="Times New Roman" panose="02020603050405020304" pitchFamily="18" charset="0"/>
              </a:rPr>
              <a:t>correspond </a:t>
            </a:r>
            <a:r>
              <a:rPr lang="fr-FR" sz="2400" dirty="0">
                <a:latin typeface="Times New Roman" panose="02020603050405020304" pitchFamily="18" charset="0"/>
                <a:cs typeface="Times New Roman" panose="02020603050405020304" pitchFamily="18" charset="0"/>
              </a:rPr>
              <a:t>à la partie visible et interactive d'un site web ou d'une application, </a:t>
            </a:r>
            <a:r>
              <a:rPr lang="fr-FR" sz="2400" dirty="0" smtClean="0">
                <a:latin typeface="Times New Roman" panose="02020603050405020304" pitchFamily="18" charset="0"/>
                <a:cs typeface="Times New Roman" panose="02020603050405020304" pitchFamily="18" charset="0"/>
              </a:rPr>
              <a:t>c'est-à-dire tout ce que l'utilisateur voit et manipule directement sur son écran.</a:t>
            </a:r>
          </a:p>
          <a:p>
            <a:pPr algn="just">
              <a:buFont typeface="Wingdings" panose="05000000000000000000" pitchFamily="2" charset="2"/>
              <a:buChar char="Ø"/>
            </a:pPr>
            <a:r>
              <a:rPr lang="fr-FR" sz="2400" dirty="0" smtClean="0">
                <a:latin typeface="Times New Roman" panose="02020603050405020304" pitchFamily="18" charset="0"/>
                <a:cs typeface="Times New Roman" panose="02020603050405020304" pitchFamily="18" charset="0"/>
              </a:rPr>
              <a:t>est construit à l'aide d'une combinaison de technologies telles que le langage de balisage hypertexte (HTML), JavaScript et les feuilles de style en cascade (CSS). </a:t>
            </a:r>
          </a:p>
        </p:txBody>
      </p:sp>
    </p:spTree>
    <p:extLst>
      <p:ext uri="{BB962C8B-B14F-4D97-AF65-F5344CB8AC3E}">
        <p14:creationId xmlns:p14="http://schemas.microsoft.com/office/powerpoint/2010/main" val="2582200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latin typeface="Times New Roman" panose="02020603050405020304" pitchFamily="18" charset="0"/>
                <a:cs typeface="Times New Roman" panose="02020603050405020304" pitchFamily="18" charset="0"/>
              </a:rPr>
              <a:t>Rôle du front-end</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12799" y="2638044"/>
            <a:ext cx="10584873" cy="3101983"/>
          </a:xfrm>
        </p:spPr>
        <p:txBody>
          <a:bodyPr>
            <a:noAutofit/>
          </a:bodyPr>
          <a:lstStyle/>
          <a:p>
            <a:pPr marL="0" indent="0" algn="just">
              <a:buNone/>
            </a:pPr>
            <a:r>
              <a:rPr lang="fr-FR" sz="2400" dirty="0" smtClean="0">
                <a:latin typeface="Times New Roman" panose="02020603050405020304" pitchFamily="18" charset="0"/>
                <a:cs typeface="Times New Roman" panose="02020603050405020304" pitchFamily="18" charset="0"/>
              </a:rPr>
              <a:t>	Les développeurs front-end conçoivent et construisent les éléments de l'expérience utilisateur sur la page Web ou l'application, y compris notamment</a:t>
            </a:r>
          </a:p>
          <a:p>
            <a:pPr algn="just"/>
            <a:r>
              <a:rPr lang="fr-FR" sz="2400" dirty="0" smtClean="0">
                <a:latin typeface="Times New Roman" panose="02020603050405020304" pitchFamily="18" charset="0"/>
                <a:cs typeface="Times New Roman" panose="02020603050405020304" pitchFamily="18" charset="0"/>
              </a:rPr>
              <a:t>les boutons, </a:t>
            </a:r>
          </a:p>
          <a:p>
            <a:pPr algn="just"/>
            <a:r>
              <a:rPr lang="fr-FR" sz="2400" dirty="0" smtClean="0">
                <a:latin typeface="Times New Roman" panose="02020603050405020304" pitchFamily="18" charset="0"/>
                <a:cs typeface="Times New Roman" panose="02020603050405020304" pitchFamily="18" charset="0"/>
              </a:rPr>
              <a:t>les menus, </a:t>
            </a:r>
          </a:p>
          <a:p>
            <a:pPr algn="just"/>
            <a:r>
              <a:rPr lang="fr-FR" sz="2400" dirty="0" smtClean="0">
                <a:latin typeface="Times New Roman" panose="02020603050405020304" pitchFamily="18" charset="0"/>
                <a:cs typeface="Times New Roman" panose="02020603050405020304" pitchFamily="18" charset="0"/>
              </a:rPr>
              <a:t>les pages, </a:t>
            </a:r>
          </a:p>
          <a:p>
            <a:pPr algn="just"/>
            <a:r>
              <a:rPr lang="fr-FR" sz="2400" dirty="0" smtClean="0">
                <a:latin typeface="Times New Roman" panose="02020603050405020304" pitchFamily="18" charset="0"/>
                <a:cs typeface="Times New Roman" panose="02020603050405020304" pitchFamily="18" charset="0"/>
              </a:rPr>
              <a:t>les liens, </a:t>
            </a:r>
          </a:p>
          <a:p>
            <a:pPr algn="just"/>
            <a:r>
              <a:rPr lang="fr-FR" sz="2400" dirty="0" smtClean="0">
                <a:latin typeface="Times New Roman" panose="02020603050405020304" pitchFamily="18" charset="0"/>
                <a:cs typeface="Times New Roman" panose="02020603050405020304" pitchFamily="18" charset="0"/>
              </a:rPr>
              <a:t>les graphiques, </a:t>
            </a:r>
          </a:p>
          <a:p>
            <a:pPr algn="just"/>
            <a:r>
              <a:rPr lang="fr-FR" sz="2400" dirty="0" smtClean="0">
                <a:latin typeface="Times New Roman" panose="02020603050405020304" pitchFamily="18" charset="0"/>
                <a:cs typeface="Times New Roman" panose="02020603050405020304" pitchFamily="18" charset="0"/>
              </a:rPr>
              <a:t>etc.</a:t>
            </a:r>
            <a:endParaRPr lang="fr-CM" sz="2400" dirty="0" smtClean="0">
              <a:latin typeface="Times New Roman" panose="02020603050405020304" pitchFamily="18" charset="0"/>
              <a:cs typeface="Times New Roman" panose="02020603050405020304" pitchFamily="18" charset="0"/>
            </a:endParaRPr>
          </a:p>
          <a:p>
            <a:pPr marL="0" indent="0" algn="just">
              <a:buNone/>
            </a:pPr>
            <a:endParaRPr lang="fr-CM"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030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smtClean="0">
                <a:latin typeface="Times New Roman" panose="02020603050405020304" pitchFamily="18" charset="0"/>
                <a:cs typeface="Times New Roman" panose="02020603050405020304" pitchFamily="18" charset="0"/>
              </a:rPr>
              <a:t>Présentation des </a:t>
            </a:r>
            <a:r>
              <a:rPr lang="fr-FR" b="1" dirty="0" err="1" smtClean="0">
                <a:latin typeface="Times New Roman" panose="02020603050405020304" pitchFamily="18" charset="0"/>
                <a:cs typeface="Times New Roman" panose="02020603050405020304" pitchFamily="18" charset="0"/>
              </a:rPr>
              <a:t>Frameworks</a:t>
            </a:r>
            <a:r>
              <a:rPr lang="fr-FR" b="1" dirty="0" smtClean="0">
                <a:latin typeface="Times New Roman" panose="02020603050405020304" pitchFamily="18" charset="0"/>
                <a:cs typeface="Times New Roman" panose="02020603050405020304" pitchFamily="18" charset="0"/>
              </a:rPr>
              <a:t> front-end :</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572655" y="2638044"/>
            <a:ext cx="11018981" cy="3101983"/>
          </a:xfrm>
        </p:spPr>
        <p:txBody>
          <a:bodyPr>
            <a:noAutofit/>
          </a:bodyPr>
          <a:lstStyle/>
          <a:p>
            <a:pPr marL="0" indent="0" algn="just">
              <a:buNone/>
            </a:pPr>
            <a:r>
              <a:rPr lang="fr-FR" sz="2400" b="1" i="1" dirty="0" smtClean="0">
                <a:latin typeface="Times New Roman" panose="02020603050405020304" pitchFamily="18" charset="0"/>
                <a:cs typeface="Times New Roman" panose="02020603050405020304" pitchFamily="18" charset="0"/>
              </a:rPr>
              <a:t>Qu’est-ce qu’un framework ? </a:t>
            </a:r>
          </a:p>
          <a:p>
            <a:pPr marL="0" indent="0" algn="just">
              <a:buNone/>
            </a:pPr>
            <a:r>
              <a:rPr lang="fr-FR" sz="2400" dirty="0" smtClean="0">
                <a:latin typeface="Times New Roman" panose="02020603050405020304" pitchFamily="18" charset="0"/>
                <a:cs typeface="Times New Roman" panose="02020603050405020304" pitchFamily="18" charset="0"/>
              </a:rPr>
              <a:t>	Un framework est une boîte à outils couplée à une bibliothèque pour programmeur informatique. Il permet d’aider les programmeurs dans leur travail en leur proposant des morceaux de code pour mettre en place des fonctionnalités couramment demandées pour des applications. Par exemple, le multilinguisme, la gestion de la sécurité, la modularité (c’est-à-dire la possibilité pour l’utilisateur de personnaliser son interface). L’avantage est que les programmeurs ne réinventent pas la roue chacun dans leur coin en programmant de A à Z tous les aspects de l’application demandée par le client.</a:t>
            </a:r>
            <a:endParaRPr lang="fr-CM"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00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1136" y="512123"/>
            <a:ext cx="7729728" cy="1188720"/>
          </a:xfrm>
        </p:spPr>
        <p:txBody>
          <a:bodyPr/>
          <a:lstStyle/>
          <a:p>
            <a:pPr algn="ctr"/>
            <a:r>
              <a:rPr lang="fr-FR" b="1" dirty="0" smtClean="0">
                <a:latin typeface="Times New Roman" panose="02020603050405020304" pitchFamily="18" charset="0"/>
                <a:cs typeface="Times New Roman" panose="02020603050405020304" pitchFamily="18" charset="0"/>
              </a:rPr>
              <a:t>Présentation des </a:t>
            </a:r>
            <a:r>
              <a:rPr lang="fr-FR" b="1" dirty="0" err="1" smtClean="0">
                <a:latin typeface="Times New Roman" panose="02020603050405020304" pitchFamily="18" charset="0"/>
                <a:cs typeface="Times New Roman" panose="02020603050405020304" pitchFamily="18" charset="0"/>
              </a:rPr>
              <a:t>frameworks</a:t>
            </a:r>
            <a:r>
              <a:rPr lang="fr-FR" b="1" dirty="0" smtClean="0">
                <a:latin typeface="Times New Roman" panose="02020603050405020304" pitchFamily="18" charset="0"/>
                <a:cs typeface="Times New Roman" panose="02020603050405020304" pitchFamily="18" charset="0"/>
              </a:rPr>
              <a:t> front-end</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581891" y="1782618"/>
            <a:ext cx="10734964" cy="5412509"/>
          </a:xfrm>
        </p:spPr>
        <p:txBody>
          <a:bodyPr>
            <a:normAutofit/>
          </a:bodyPr>
          <a:lstStyle/>
          <a:p>
            <a:pPr marL="0" indent="0" algn="just">
              <a:buNone/>
            </a:pPr>
            <a:r>
              <a:rPr lang="fr-FR" sz="2000" dirty="0" smtClean="0">
                <a:latin typeface="Times New Roman" panose="02020603050405020304" pitchFamily="18" charset="0"/>
                <a:cs typeface="Times New Roman" panose="02020603050405020304" pitchFamily="18" charset="0"/>
              </a:rPr>
              <a:t>	Il faut savoir aussi qu’un projet nécessitera souvent l’utilisation de plusieurs </a:t>
            </a:r>
            <a:r>
              <a:rPr lang="fr-FR" sz="2000" dirty="0" err="1" smtClean="0">
                <a:latin typeface="Times New Roman" panose="02020603050405020304" pitchFamily="18" charset="0"/>
                <a:cs typeface="Times New Roman" panose="02020603050405020304" pitchFamily="18" charset="0"/>
              </a:rPr>
              <a:t>frameworks</a:t>
            </a:r>
            <a:r>
              <a:rPr lang="fr-FR" sz="2000" dirty="0" smtClean="0">
                <a:latin typeface="Times New Roman" panose="02020603050405020304" pitchFamily="18" charset="0"/>
                <a:cs typeface="Times New Roman" panose="02020603050405020304" pitchFamily="18" charset="0"/>
              </a:rPr>
              <a:t>. En effet, les </a:t>
            </a:r>
            <a:r>
              <a:rPr lang="fr-FR" sz="2000" dirty="0" err="1" smtClean="0">
                <a:latin typeface="Times New Roman" panose="02020603050405020304" pitchFamily="18" charset="0"/>
                <a:cs typeface="Times New Roman" panose="02020603050405020304" pitchFamily="18" charset="0"/>
              </a:rPr>
              <a:t>frameworks</a:t>
            </a:r>
            <a:r>
              <a:rPr lang="fr-FR" sz="2000" dirty="0" smtClean="0">
                <a:latin typeface="Times New Roman" panose="02020603050405020304" pitchFamily="18" charset="0"/>
                <a:cs typeface="Times New Roman" panose="02020603050405020304" pitchFamily="18" charset="0"/>
              </a:rPr>
              <a:t> sont généralement spécialisés dans un domaine bien précis : </a:t>
            </a:r>
          </a:p>
          <a:p>
            <a:pPr algn="just">
              <a:buFont typeface="Wingdings" panose="05000000000000000000" pitchFamily="2" charset="2"/>
              <a:buChar char="§"/>
            </a:pPr>
            <a:r>
              <a:rPr lang="fr-FR" sz="2000" dirty="0" smtClean="0">
                <a:latin typeface="Times New Roman" panose="02020603050405020304" pitchFamily="18" charset="0"/>
                <a:cs typeface="Times New Roman" panose="02020603050405020304" pitchFamily="18" charset="0"/>
              </a:rPr>
              <a:t>Un framework back-end permet à l’application de communiquer avec la base de données qui renferme des renseignements aussi précieux que les informations sur les utilisateurs, les sessions en cours, les articles en vente sur votre site… </a:t>
            </a:r>
          </a:p>
          <a:p>
            <a:pPr marL="0" indent="0" algn="just">
              <a:buNone/>
            </a:pPr>
            <a:r>
              <a:rPr lang="fr-FR" sz="2000" dirty="0" smtClean="0">
                <a:latin typeface="Times New Roman" panose="02020603050405020304" pitchFamily="18" charset="0"/>
                <a:cs typeface="Times New Roman" panose="02020603050405020304" pitchFamily="18" charset="0"/>
              </a:rPr>
              <a:t>Exemples</a:t>
            </a:r>
            <a:r>
              <a:rPr lang="fr-FR" sz="2000" dirty="0" smtClean="0">
                <a:latin typeface="Times New Roman" panose="02020603050405020304" pitchFamily="18" charset="0"/>
                <a:cs typeface="Times New Roman" panose="02020603050405020304" pitchFamily="18" charset="0"/>
              </a:rPr>
              <a:t>: </a:t>
            </a:r>
            <a:r>
              <a:rPr lang="fr-FR" sz="2000" dirty="0" err="1" smtClean="0">
                <a:latin typeface="Times New Roman" panose="02020603050405020304" pitchFamily="18" charset="0"/>
                <a:cs typeface="Times New Roman" panose="02020603050405020304" pitchFamily="18" charset="0"/>
              </a:rPr>
              <a:t>Node</a:t>
            </a:r>
            <a:r>
              <a:rPr lang="fr-FR" sz="2000" dirty="0" smtClean="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JS est un exemple de </a:t>
            </a:r>
            <a:r>
              <a:rPr lang="fr-FR" sz="2000" dirty="0" err="1" smtClean="0">
                <a:latin typeface="Times New Roman" panose="02020603050405020304" pitchFamily="18" charset="0"/>
                <a:cs typeface="Times New Roman" panose="02020603050405020304" pitchFamily="18" charset="0"/>
              </a:rPr>
              <a:t>framework</a:t>
            </a:r>
            <a:r>
              <a:rPr lang="fr-FR" sz="2000" dirty="0" smtClean="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back-end</a:t>
            </a:r>
            <a:r>
              <a:rPr lang="fr-FR" sz="2000" dirty="0" smtClean="0">
                <a:latin typeface="Times New Roman" panose="02020603050405020304" pitchFamily="18" charset="0"/>
                <a:cs typeface="Times New Roman" panose="02020603050405020304" pitchFamily="18" charset="0"/>
              </a:rPr>
              <a:t>, tout comme Ruby, </a:t>
            </a:r>
            <a:r>
              <a:rPr lang="fr-FR" sz="2000" dirty="0" err="1" smtClean="0">
                <a:latin typeface="Times New Roman" panose="02020603050405020304" pitchFamily="18" charset="0"/>
                <a:cs typeface="Times New Roman" panose="02020603050405020304" pitchFamily="18" charset="0"/>
              </a:rPr>
              <a:t>Laravel</a:t>
            </a:r>
            <a:r>
              <a:rPr lang="fr-FR" sz="2000" dirty="0" smtClean="0">
                <a:latin typeface="Times New Roman" panose="02020603050405020304" pitchFamily="18" charset="0"/>
                <a:cs typeface="Times New Roman" panose="02020603050405020304" pitchFamily="18" charset="0"/>
              </a:rPr>
              <a:t>, Django, </a:t>
            </a:r>
            <a:r>
              <a:rPr lang="fr-FR" sz="2000" dirty="0" err="1" smtClean="0">
                <a:latin typeface="Times New Roman" panose="02020603050405020304" pitchFamily="18" charset="0"/>
                <a:cs typeface="Times New Roman" panose="02020603050405020304" pitchFamily="18" charset="0"/>
              </a:rPr>
              <a:t>Flask</a:t>
            </a:r>
            <a:r>
              <a:rPr lang="fr-FR" sz="2000" dirty="0" smtClean="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
            </a:pPr>
            <a:r>
              <a:rPr lang="fr-FR" sz="2000" dirty="0" smtClean="0">
                <a:latin typeface="Times New Roman" panose="02020603050405020304" pitchFamily="18" charset="0"/>
                <a:cs typeface="Times New Roman" panose="02020603050405020304" pitchFamily="18" charset="0"/>
              </a:rPr>
              <a:t>Un framework front-end applicatif permet de créer une interface pour que l’utilisateur puisse utiliser l’application. </a:t>
            </a:r>
          </a:p>
          <a:p>
            <a:pPr marL="0" indent="0" algn="just">
              <a:buNone/>
            </a:pPr>
            <a:r>
              <a:rPr lang="fr-FR" sz="2000" dirty="0" smtClean="0">
                <a:latin typeface="Times New Roman" panose="02020603050405020304" pitchFamily="18" charset="0"/>
                <a:cs typeface="Times New Roman" panose="02020603050405020304" pitchFamily="18" charset="0"/>
              </a:rPr>
              <a:t>Exemples: </a:t>
            </a:r>
            <a:r>
              <a:rPr lang="fr-FR" sz="2000" dirty="0" err="1" smtClean="0">
                <a:latin typeface="Times New Roman" panose="02020603050405020304" pitchFamily="18" charset="0"/>
                <a:cs typeface="Times New Roman" panose="02020603050405020304" pitchFamily="18" charset="0"/>
              </a:rPr>
              <a:t>Angular</a:t>
            </a:r>
            <a:r>
              <a:rPr lang="fr-FR" sz="2000" dirty="0" smtClean="0">
                <a:latin typeface="Times New Roman" panose="02020603050405020304" pitchFamily="18" charset="0"/>
                <a:cs typeface="Times New Roman" panose="02020603050405020304" pitchFamily="18" charset="0"/>
              </a:rPr>
              <a:t> JS, </a:t>
            </a:r>
            <a:r>
              <a:rPr lang="fr-FR" sz="2000" dirty="0" err="1" smtClean="0">
                <a:latin typeface="Times New Roman" panose="02020603050405020304" pitchFamily="18" charset="0"/>
                <a:cs typeface="Times New Roman" panose="02020603050405020304" pitchFamily="18" charset="0"/>
              </a:rPr>
              <a:t>React</a:t>
            </a:r>
            <a:r>
              <a:rPr lang="fr-FR" sz="2000" dirty="0" smtClean="0">
                <a:latin typeface="Times New Roman" panose="02020603050405020304" pitchFamily="18" charset="0"/>
                <a:cs typeface="Times New Roman" panose="02020603050405020304" pitchFamily="18" charset="0"/>
              </a:rPr>
              <a:t>, Vue JS. </a:t>
            </a:r>
            <a:endParaRPr lang="fr-FR"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fr-FR" sz="2000" dirty="0" smtClean="0">
                <a:latin typeface="Times New Roman" panose="02020603050405020304" pitchFamily="18" charset="0"/>
                <a:cs typeface="Times New Roman" panose="02020603050405020304" pitchFamily="18" charset="0"/>
              </a:rPr>
              <a:t>un framework front-end de présentation permet de définir l’apparence de l’application pour l’utilisateur. </a:t>
            </a:r>
          </a:p>
          <a:p>
            <a:pPr algn="just">
              <a:buFont typeface="Wingdings" panose="05000000000000000000" pitchFamily="2" charset="2"/>
              <a:buChar char="§"/>
            </a:pPr>
            <a:r>
              <a:rPr lang="fr-FR" sz="2000" dirty="0" smtClean="0">
                <a:latin typeface="Times New Roman" panose="02020603050405020304" pitchFamily="18" charset="0"/>
                <a:cs typeface="Times New Roman" panose="02020603050405020304" pitchFamily="18" charset="0"/>
              </a:rPr>
              <a:t>Exemple: </a:t>
            </a:r>
            <a:r>
              <a:rPr lang="fr-FR" sz="2000" dirty="0" err="1" smtClean="0">
                <a:latin typeface="Times New Roman" panose="02020603050405020304" pitchFamily="18" charset="0"/>
                <a:cs typeface="Times New Roman" panose="02020603050405020304" pitchFamily="18" charset="0"/>
              </a:rPr>
              <a:t>Bootstrap</a:t>
            </a:r>
            <a:r>
              <a:rPr lang="fr-FR" sz="2000" dirty="0" smtClean="0">
                <a:latin typeface="Times New Roman" panose="02020603050405020304" pitchFamily="18" charset="0"/>
                <a:cs typeface="Times New Roman" panose="02020603050405020304" pitchFamily="18" charset="0"/>
              </a:rPr>
              <a:t>.</a:t>
            </a:r>
            <a:endParaRPr lang="fr-CM"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5806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smtClean="0">
                <a:latin typeface="Times New Roman" panose="02020603050405020304" pitchFamily="18" charset="0"/>
                <a:cs typeface="Times New Roman" panose="02020603050405020304" pitchFamily="18" charset="0"/>
              </a:rPr>
              <a:t>Pourquoi utiliser les </a:t>
            </a:r>
            <a:r>
              <a:rPr lang="fr-FR" b="1" dirty="0" err="1" smtClean="0">
                <a:latin typeface="Times New Roman" panose="02020603050405020304" pitchFamily="18" charset="0"/>
                <a:cs typeface="Times New Roman" panose="02020603050405020304" pitchFamily="18" charset="0"/>
              </a:rPr>
              <a:t>frameworks</a:t>
            </a:r>
            <a:r>
              <a:rPr lang="fr-FR" b="1" dirty="0" smtClean="0">
                <a:latin typeface="Times New Roman" panose="02020603050405020304" pitchFamily="18" charset="0"/>
                <a:cs typeface="Times New Roman" panose="02020603050405020304" pitchFamily="18" charset="0"/>
              </a:rPr>
              <a:t> ? </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2416751"/>
            <a:ext cx="10515600" cy="4833793"/>
          </a:xfrm>
        </p:spPr>
        <p:txBody>
          <a:bodyPr>
            <a:normAutofit/>
          </a:bodyPr>
          <a:lstStyle/>
          <a:p>
            <a:pPr algn="just">
              <a:lnSpc>
                <a:spcPct val="150000"/>
              </a:lnSpc>
              <a:buFont typeface="Wingdings" panose="05000000000000000000" pitchFamily="2" charset="2"/>
              <a:buChar char="§"/>
            </a:pPr>
            <a:r>
              <a:rPr lang="fr-FR" sz="2400" dirty="0" smtClean="0">
                <a:latin typeface="Times New Roman" panose="02020603050405020304" pitchFamily="18" charset="0"/>
                <a:cs typeface="Times New Roman" panose="02020603050405020304" pitchFamily="18" charset="0"/>
              </a:rPr>
              <a:t>L’utilisation d’un framework n’est pas </a:t>
            </a:r>
            <a:r>
              <a:rPr lang="fr-FR" sz="2400" dirty="0" smtClean="0">
                <a:latin typeface="Times New Roman" panose="02020603050405020304" pitchFamily="18" charset="0"/>
                <a:cs typeface="Times New Roman" panose="02020603050405020304" pitchFamily="18" charset="0"/>
              </a:rPr>
              <a:t>obligatoirement </a:t>
            </a:r>
            <a:r>
              <a:rPr lang="fr-FR" sz="2400" dirty="0" smtClean="0">
                <a:latin typeface="Times New Roman" panose="02020603050405020304" pitchFamily="18" charset="0"/>
                <a:cs typeface="Times New Roman" panose="02020603050405020304" pitchFamily="18" charset="0"/>
              </a:rPr>
              <a:t>nécessaire dans un projet informatique, quelle que soit sa taille. </a:t>
            </a:r>
          </a:p>
          <a:p>
            <a:pPr algn="just">
              <a:lnSpc>
                <a:spcPct val="150000"/>
              </a:lnSpc>
              <a:buFont typeface="Wingdings" panose="05000000000000000000" pitchFamily="2" charset="2"/>
              <a:buChar char="§"/>
            </a:pPr>
            <a:r>
              <a:rPr lang="fr-FR" sz="2400" dirty="0" smtClean="0">
                <a:latin typeface="Times New Roman" panose="02020603050405020304" pitchFamily="18" charset="0"/>
                <a:cs typeface="Times New Roman" panose="02020603050405020304" pitchFamily="18" charset="0"/>
              </a:rPr>
              <a:t>Cependant, un framework est comme un squelette applicatif avec sa boîte à outils qui permet de développer plus vite car intègre une bonne partie de l’architecture, et invite les développeurs à suivre les normes de développement et de nommage tendant à une meilleure qualité du code.</a:t>
            </a:r>
            <a:endParaRPr lang="fr-CM"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260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1136" y="345856"/>
            <a:ext cx="7729728" cy="1188720"/>
          </a:xfrm>
        </p:spPr>
        <p:txBody>
          <a:bodyPr>
            <a:normAutofit/>
          </a:bodyPr>
          <a:lstStyle/>
          <a:p>
            <a:pPr algn="ctr"/>
            <a:r>
              <a:rPr lang="fr-FR" b="1" dirty="0" smtClean="0">
                <a:latin typeface="Times New Roman" panose="02020603050405020304" pitchFamily="18" charset="0"/>
                <a:cs typeface="Times New Roman" panose="02020603050405020304" pitchFamily="18" charset="0"/>
              </a:rPr>
              <a:t>Les avantages d’un framework ? </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930563" y="1634850"/>
            <a:ext cx="10515600" cy="5255490"/>
          </a:xfrm>
        </p:spPr>
        <p:txBody>
          <a:bodyPr>
            <a:normAutofit/>
          </a:bodyPr>
          <a:lstStyle/>
          <a:p>
            <a:pPr marL="0" indent="0" algn="just">
              <a:buNone/>
            </a:pPr>
            <a:r>
              <a:rPr lang="fr-FR" sz="2800" b="1" u="sng" dirty="0" smtClean="0">
                <a:latin typeface="Times New Roman" panose="02020603050405020304" pitchFamily="18" charset="0"/>
                <a:cs typeface="Times New Roman" panose="02020603050405020304" pitchFamily="18" charset="0"/>
              </a:rPr>
              <a:t>Avantages non négligeables : </a:t>
            </a:r>
          </a:p>
          <a:p>
            <a:pPr algn="just">
              <a:buFont typeface="Wingdings" panose="05000000000000000000" pitchFamily="2" charset="2"/>
              <a:buChar char="Ø"/>
            </a:pPr>
            <a:r>
              <a:rPr lang="fr-FR" sz="2800" dirty="0" smtClean="0">
                <a:latin typeface="Times New Roman" panose="02020603050405020304" pitchFamily="18" charset="0"/>
                <a:cs typeface="Times New Roman" panose="02020603050405020304" pitchFamily="18" charset="0"/>
              </a:rPr>
              <a:t>Les développeurs se concentrent uniquement sur la partie métier puisque toutes les couches techniques sont déjà intégrées dans le framework. </a:t>
            </a:r>
            <a:endParaRPr lang="fr-FR"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fr-FR" sz="2800" dirty="0" smtClean="0">
                <a:latin typeface="Times New Roman" panose="02020603050405020304" pitchFamily="18" charset="0"/>
                <a:cs typeface="Times New Roman" panose="02020603050405020304" pitchFamily="18" charset="0"/>
              </a:rPr>
              <a:t>L’architecture permet la séparation des couches techniques logiques afin de faciliter le développement en équipe, la maintenance et l’évolution. </a:t>
            </a:r>
          </a:p>
          <a:p>
            <a:pPr algn="just">
              <a:buFont typeface="Wingdings" panose="05000000000000000000" pitchFamily="2" charset="2"/>
              <a:buChar char="Ø"/>
            </a:pPr>
            <a:r>
              <a:rPr lang="fr-FR" sz="2800" dirty="0" smtClean="0">
                <a:latin typeface="Times New Roman" panose="02020603050405020304" pitchFamily="18" charset="0"/>
                <a:cs typeface="Times New Roman" panose="02020603050405020304" pitchFamily="18" charset="0"/>
              </a:rPr>
              <a:t>La maintenance et l’évolution du framework sont gérées par l’organisme fondateur</a:t>
            </a: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4319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1136" y="419751"/>
            <a:ext cx="7729728" cy="1188720"/>
          </a:xfrm>
        </p:spPr>
        <p:txBody>
          <a:bodyPr/>
          <a:lstStyle/>
          <a:p>
            <a:pPr algn="ctr"/>
            <a:r>
              <a:rPr lang="fr-CM" b="1" dirty="0" smtClean="0">
                <a:latin typeface="Times New Roman" panose="02020603050405020304" pitchFamily="18" charset="0"/>
                <a:cs typeface="Times New Roman" panose="02020603050405020304" pitchFamily="18" charset="0"/>
              </a:rPr>
              <a:t>Les </a:t>
            </a:r>
            <a:r>
              <a:rPr lang="fr-CM" b="1" dirty="0" err="1" smtClean="0">
                <a:latin typeface="Times New Roman" panose="02020603050405020304" pitchFamily="18" charset="0"/>
                <a:cs typeface="Times New Roman" panose="02020603050405020304" pitchFamily="18" charset="0"/>
              </a:rPr>
              <a:t>frameworks</a:t>
            </a:r>
            <a:r>
              <a:rPr lang="fr-CM" b="1" dirty="0" smtClean="0">
                <a:latin typeface="Times New Roman" panose="02020603050405020304" pitchFamily="18" charset="0"/>
                <a:cs typeface="Times New Roman" panose="02020603050405020304" pitchFamily="18" charset="0"/>
              </a:rPr>
              <a:t> front-end</a:t>
            </a:r>
            <a:endParaRPr lang="fr-CM" b="1" dirty="0">
              <a:latin typeface="Times New Roman" panose="02020603050405020304" pitchFamily="18" charset="0"/>
              <a:cs typeface="Times New Roman" panose="02020603050405020304" pitchFamily="18" charset="0"/>
            </a:endParaRPr>
          </a:p>
        </p:txBody>
      </p:sp>
      <p:pic>
        <p:nvPicPr>
          <p:cNvPr id="4" name="Espace réservé du contenu 3"/>
          <p:cNvPicPr>
            <a:picLocks noGrp="1" noChangeAspect="1"/>
          </p:cNvPicPr>
          <p:nvPr>
            <p:ph idx="1"/>
          </p:nvPr>
        </p:nvPicPr>
        <p:blipFill>
          <a:blip r:embed="rId2"/>
          <a:stretch>
            <a:fillRect/>
          </a:stretch>
        </p:blipFill>
        <p:spPr>
          <a:xfrm>
            <a:off x="678873" y="1791855"/>
            <a:ext cx="10834254" cy="4729017"/>
          </a:xfrm>
          <a:prstGeom prst="rect">
            <a:avLst/>
          </a:prstGeom>
        </p:spPr>
      </p:pic>
    </p:spTree>
    <p:extLst>
      <p:ext uri="{BB962C8B-B14F-4D97-AF65-F5344CB8AC3E}">
        <p14:creationId xmlns:p14="http://schemas.microsoft.com/office/powerpoint/2010/main" val="2679713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1136" y="262734"/>
            <a:ext cx="7729728" cy="1188720"/>
          </a:xfrm>
        </p:spPr>
        <p:txBody>
          <a:bodyPr/>
          <a:lstStyle/>
          <a:p>
            <a:pPr algn="ctr"/>
            <a:r>
              <a:rPr lang="fr-FR" b="1" dirty="0" smtClean="0">
                <a:latin typeface="Times New Roman" panose="02020603050405020304" pitchFamily="18" charset="0"/>
                <a:cs typeface="Times New Roman" panose="02020603050405020304" pitchFamily="18" charset="0"/>
              </a:rPr>
              <a:t>Pourquoi un Framework ou bibliothèque front-end ?</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646545" y="1742116"/>
            <a:ext cx="10723419" cy="4538611"/>
          </a:xfrm>
        </p:spPr>
        <p:txBody>
          <a:bodyPr>
            <a:normAutofit/>
          </a:bodyPr>
          <a:lstStyle/>
          <a:p>
            <a:pPr marL="0" indent="0">
              <a:buNone/>
            </a:pPr>
            <a:r>
              <a:rPr lang="fr-FR" sz="2800" dirty="0" smtClean="0">
                <a:latin typeface="Times New Roman" panose="02020603050405020304" pitchFamily="18" charset="0"/>
                <a:cs typeface="Times New Roman" panose="02020603050405020304" pitchFamily="18" charset="0"/>
              </a:rPr>
              <a:t>Avant l’arrivée des bibliothèques et Framework </a:t>
            </a:r>
            <a:r>
              <a:rPr lang="fr-FR" sz="2800" dirty="0" smtClean="0">
                <a:latin typeface="Times New Roman" panose="02020603050405020304" pitchFamily="18" charset="0"/>
                <a:cs typeface="Times New Roman" panose="02020603050405020304" pitchFamily="18" charset="0"/>
              </a:rPr>
              <a:t>Front-end</a:t>
            </a:r>
            <a:r>
              <a:rPr lang="fr-FR" sz="2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 les sites web étaient développés avec HTML, CSS, Java Script native, </a:t>
            </a:r>
          </a:p>
          <a:p>
            <a:pPr>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le site est constitué par plusieurs pages html, </a:t>
            </a:r>
          </a:p>
          <a:p>
            <a:pPr>
              <a:buFont typeface="Wingdings" panose="05000000000000000000" pitchFamily="2" charset="2"/>
              <a:buChar char="§"/>
            </a:pPr>
            <a:r>
              <a:rPr lang="fr-FR" sz="2800" dirty="0">
                <a:latin typeface="Times New Roman" panose="02020603050405020304" pitchFamily="18" charset="0"/>
                <a:cs typeface="Times New Roman" panose="02020603050405020304" pitchFamily="18" charset="0"/>
              </a:rPr>
              <a:t>Q</a:t>
            </a:r>
            <a:r>
              <a:rPr lang="fr-FR" sz="2800" dirty="0" smtClean="0">
                <a:latin typeface="Times New Roman" panose="02020603050405020304" pitchFamily="18" charset="0"/>
                <a:cs typeface="Times New Roman" panose="02020603050405020304" pitchFamily="18" charset="0"/>
              </a:rPr>
              <a:t>uand l’utilisateur demande ou poste une information toute la page est envoyée</a:t>
            </a:r>
          </a:p>
          <a:p>
            <a:pPr>
              <a:buFont typeface="Wingdings" panose="05000000000000000000" pitchFamily="2" charset="2"/>
              <a:buChar char="§"/>
            </a:pPr>
            <a:r>
              <a:rPr lang="fr-FR" sz="2800" dirty="0" smtClean="0">
                <a:latin typeface="Times New Roman" panose="02020603050405020304" pitchFamily="18" charset="0"/>
                <a:cs typeface="Times New Roman" panose="02020603050405020304" pitchFamily="18" charset="0"/>
              </a:rPr>
              <a:t>Conséquence: Il y a </a:t>
            </a:r>
          </a:p>
          <a:p>
            <a:pPr>
              <a:buFont typeface="Wingdings" panose="05000000000000000000" pitchFamily="2" charset="2"/>
              <a:buChar char="Ø"/>
            </a:pPr>
            <a:r>
              <a:rPr lang="fr-FR" sz="2800" dirty="0" smtClean="0">
                <a:latin typeface="Times New Roman" panose="02020603050405020304" pitchFamily="18" charset="0"/>
                <a:cs typeface="Times New Roman" panose="02020603050405020304" pitchFamily="18" charset="0"/>
              </a:rPr>
              <a:t>lenteur de rafraichissement, </a:t>
            </a:r>
          </a:p>
          <a:p>
            <a:pPr>
              <a:buFont typeface="Wingdings" panose="05000000000000000000" pitchFamily="2" charset="2"/>
              <a:buChar char="Ø"/>
            </a:pPr>
            <a:r>
              <a:rPr lang="fr-FR" sz="2800" dirty="0" smtClean="0">
                <a:latin typeface="Times New Roman" panose="02020603050405020304" pitchFamily="18" charset="0"/>
                <a:cs typeface="Times New Roman" panose="02020603050405020304" pitchFamily="18" charset="0"/>
              </a:rPr>
              <a:t>une charge sur le serveur et le navigateur. </a:t>
            </a:r>
          </a:p>
        </p:txBody>
      </p:sp>
    </p:spTree>
    <p:extLst>
      <p:ext uri="{BB962C8B-B14F-4D97-AF65-F5344CB8AC3E}">
        <p14:creationId xmlns:p14="http://schemas.microsoft.com/office/powerpoint/2010/main" val="2900120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latin typeface="Times New Roman" panose="02020603050405020304" pitchFamily="18" charset="0"/>
                <a:cs typeface="Times New Roman" panose="02020603050405020304" pitchFamily="18" charset="0"/>
              </a:rPr>
              <a:t>Pourquoi un Framework ou bibliothèque front-end ?</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95927" y="2638044"/>
            <a:ext cx="10363200" cy="3892065"/>
          </a:xfrm>
        </p:spPr>
        <p:txBody>
          <a:bodyPr>
            <a:normAutofit/>
          </a:bodyPr>
          <a:lstStyle/>
          <a:p>
            <a:pPr marL="0" indent="0" algn="just">
              <a:buNone/>
            </a:pPr>
            <a:r>
              <a:rPr lang="fr-FR" sz="3600" dirty="0" smtClean="0">
                <a:latin typeface="Times New Roman" panose="02020603050405020304" pitchFamily="18" charset="0"/>
                <a:cs typeface="Times New Roman" panose="02020603050405020304" pitchFamily="18" charset="0"/>
              </a:rPr>
              <a:t>	L’approche </a:t>
            </a:r>
            <a:r>
              <a:rPr lang="fr-FR" sz="3600" dirty="0" smtClean="0">
                <a:latin typeface="Times New Roman" panose="02020603050405020304" pitchFamily="18" charset="0"/>
                <a:cs typeface="Times New Roman" panose="02020603050405020304" pitchFamily="18" charset="0"/>
              </a:rPr>
              <a:t>des bibliothèques et </a:t>
            </a:r>
            <a:r>
              <a:rPr lang="fr-FR" sz="3600" dirty="0" err="1" smtClean="0">
                <a:latin typeface="Times New Roman" panose="02020603050405020304" pitchFamily="18" charset="0"/>
                <a:cs typeface="Times New Roman" panose="02020603050405020304" pitchFamily="18" charset="0"/>
              </a:rPr>
              <a:t>Frameworks</a:t>
            </a:r>
            <a:r>
              <a:rPr lang="fr-FR" sz="3600" dirty="0" smtClean="0">
                <a:latin typeface="Times New Roman" panose="02020603050405020304" pitchFamily="18" charset="0"/>
                <a:cs typeface="Times New Roman" panose="02020603050405020304" pitchFamily="18" charset="0"/>
              </a:rPr>
              <a:t> Front-end </a:t>
            </a:r>
            <a:r>
              <a:rPr lang="fr-FR" sz="3600" dirty="0" smtClean="0">
                <a:latin typeface="Times New Roman" panose="02020603050405020304" pitchFamily="18" charset="0"/>
                <a:cs typeface="Times New Roman" panose="02020603050405020304" pitchFamily="18" charset="0"/>
              </a:rPr>
              <a:t>consiste à découper l’interface utilisateur en un ensemble de morceaux dits composants réutilisables</a:t>
            </a:r>
            <a:endParaRPr lang="fr-CM"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221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latin typeface="Times New Roman" panose="02020603050405020304" pitchFamily="18" charset="0"/>
                <a:cs typeface="Times New Roman" panose="02020603050405020304" pitchFamily="18" charset="0"/>
              </a:rPr>
              <a:t>Pourquoi un Framework ou bibliothèque front-end ?</a:t>
            </a:r>
            <a:endParaRPr lang="fr-CM" b="1" dirty="0">
              <a:latin typeface="Times New Roman" panose="02020603050405020304" pitchFamily="18" charset="0"/>
              <a:cs typeface="Times New Roman" panose="02020603050405020304" pitchFamily="18" charset="0"/>
            </a:endParaRPr>
          </a:p>
        </p:txBody>
      </p:sp>
      <p:pic>
        <p:nvPicPr>
          <p:cNvPr id="4" name="Espace réservé du contenu 3"/>
          <p:cNvPicPr>
            <a:picLocks noGrp="1" noChangeAspect="1"/>
          </p:cNvPicPr>
          <p:nvPr>
            <p:ph idx="1"/>
          </p:nvPr>
        </p:nvPicPr>
        <p:blipFill>
          <a:blip r:embed="rId2"/>
          <a:stretch>
            <a:fillRect/>
          </a:stretch>
        </p:blipFill>
        <p:spPr>
          <a:xfrm>
            <a:off x="840509" y="2309091"/>
            <a:ext cx="10695709" cy="4165600"/>
          </a:xfrm>
          <a:prstGeom prst="rect">
            <a:avLst/>
          </a:prstGeom>
        </p:spPr>
      </p:pic>
    </p:spTree>
    <p:extLst>
      <p:ext uri="{BB962C8B-B14F-4D97-AF65-F5344CB8AC3E}">
        <p14:creationId xmlns:p14="http://schemas.microsoft.com/office/powerpoint/2010/main" val="2855625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1136" y="406426"/>
            <a:ext cx="7729728" cy="1188720"/>
          </a:xfrm>
        </p:spPr>
        <p:txBody>
          <a:bodyPr/>
          <a:lstStyle/>
          <a:p>
            <a:r>
              <a:rPr lang="fr-FR" b="1" dirty="0" smtClean="0">
                <a:latin typeface="Times New Roman" panose="02020603050405020304" pitchFamily="18" charset="0"/>
                <a:cs typeface="Times New Roman" panose="02020603050405020304" pitchFamily="18" charset="0"/>
              </a:rPr>
              <a:t>Pourquoi un Framework ou bibliothèque front-end ?</a:t>
            </a:r>
            <a:endParaRPr lang="fr-CM" dirty="0"/>
          </a:p>
        </p:txBody>
      </p:sp>
      <p:sp>
        <p:nvSpPr>
          <p:cNvPr id="3" name="Espace réservé du contenu 2"/>
          <p:cNvSpPr>
            <a:spLocks noGrp="1"/>
          </p:cNvSpPr>
          <p:nvPr>
            <p:ph idx="1"/>
          </p:nvPr>
        </p:nvSpPr>
        <p:spPr>
          <a:xfrm>
            <a:off x="904775" y="1780674"/>
            <a:ext cx="10558913" cy="4629751"/>
          </a:xfrm>
        </p:spPr>
        <p:txBody>
          <a:bodyPr>
            <a:normAutofit/>
          </a:bodyPr>
          <a:lstStyle/>
          <a:p>
            <a:pPr marL="0" indent="0" algn="just">
              <a:buNone/>
            </a:pPr>
            <a:r>
              <a:rPr lang="fr-FR" sz="2400" dirty="0" smtClean="0">
                <a:latin typeface="Times New Roman" panose="02020603050405020304" pitchFamily="18" charset="0"/>
                <a:cs typeface="Times New Roman" panose="02020603050405020304" pitchFamily="18" charset="0"/>
              </a:rPr>
              <a:t>	On </a:t>
            </a:r>
            <a:r>
              <a:rPr lang="fr-FR" sz="2400" dirty="0">
                <a:latin typeface="Times New Roman" panose="02020603050405020304" pitchFamily="18" charset="0"/>
                <a:cs typeface="Times New Roman" panose="02020603050405020304" pitchFamily="18" charset="0"/>
              </a:rPr>
              <a:t>utilise un </a:t>
            </a:r>
            <a:r>
              <a:rPr lang="fr-FR" sz="2400" dirty="0" err="1">
                <a:latin typeface="Times New Roman" panose="02020603050405020304" pitchFamily="18" charset="0"/>
                <a:cs typeface="Times New Roman" panose="02020603050405020304" pitchFamily="18" charset="0"/>
              </a:rPr>
              <a:t>framework</a:t>
            </a:r>
            <a:r>
              <a:rPr lang="fr-FR" sz="2400" dirty="0">
                <a:latin typeface="Times New Roman" panose="02020603050405020304" pitchFamily="18" charset="0"/>
                <a:cs typeface="Times New Roman" panose="02020603050405020304" pitchFamily="18" charset="0"/>
              </a:rPr>
              <a:t> ou une bibliothèque front-end (comme </a:t>
            </a:r>
            <a:r>
              <a:rPr lang="fr-FR" sz="2400" dirty="0" err="1">
                <a:latin typeface="Times New Roman" panose="02020603050405020304" pitchFamily="18" charset="0"/>
                <a:cs typeface="Times New Roman" panose="02020603050405020304" pitchFamily="18" charset="0"/>
              </a:rPr>
              <a:t>React</a:t>
            </a:r>
            <a:r>
              <a:rPr lang="fr-FR" sz="2400" dirty="0">
                <a:latin typeface="Times New Roman" panose="02020603050405020304" pitchFamily="18" charset="0"/>
                <a:cs typeface="Times New Roman" panose="02020603050405020304" pitchFamily="18" charset="0"/>
              </a:rPr>
              <a:t>, Vue.js ou </a:t>
            </a:r>
            <a:r>
              <a:rPr lang="fr-FR" sz="2400" dirty="0" err="1">
                <a:latin typeface="Times New Roman" panose="02020603050405020304" pitchFamily="18" charset="0"/>
                <a:cs typeface="Times New Roman" panose="02020603050405020304" pitchFamily="18" charset="0"/>
              </a:rPr>
              <a:t>Angular</a:t>
            </a:r>
            <a:r>
              <a:rPr lang="fr-FR" sz="2400"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pour créer des interfaces web interactives plus rapidement, sans avoir à tout coder à partir de </a:t>
            </a:r>
            <a:r>
              <a:rPr lang="fr-FR" sz="2400" dirty="0" smtClean="0">
                <a:latin typeface="Times New Roman" panose="02020603050405020304" pitchFamily="18" charset="0"/>
                <a:cs typeface="Times New Roman" panose="02020603050405020304" pitchFamily="18" charset="0"/>
              </a:rPr>
              <a:t>zéro</a:t>
            </a:r>
          </a:p>
          <a:p>
            <a:pPr marL="0" indent="0" algn="just">
              <a:buNone/>
            </a:pPr>
            <a:endParaRPr lang="fr-FR" sz="2400" dirty="0" smtClean="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None/>
            </a:pPr>
            <a:r>
              <a:rPr lang="fr-FR" altLang="fr-FR" sz="3200" b="1" dirty="0">
                <a:solidFill>
                  <a:schemeClr val="tx1"/>
                </a:solidFill>
                <a:latin typeface="Times New Roman" panose="02020603050405020304" pitchFamily="18" charset="0"/>
                <a:cs typeface="Times New Roman" panose="02020603050405020304" pitchFamily="18" charset="0"/>
              </a:rPr>
              <a:t>Les principaux avantages</a:t>
            </a:r>
            <a:endParaRPr lang="fr-FR" altLang="fr-FR" sz="32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buFont typeface="Wingdings" panose="05000000000000000000" pitchFamily="2" charset="2"/>
              <a:buChar char="§"/>
            </a:pPr>
            <a:r>
              <a:rPr lang="fr-FR" altLang="fr-FR" sz="2400" b="1" dirty="0">
                <a:solidFill>
                  <a:schemeClr val="tx1"/>
                </a:solidFill>
                <a:latin typeface="Times New Roman" panose="02020603050405020304" pitchFamily="18" charset="0"/>
                <a:cs typeface="Times New Roman" panose="02020603050405020304" pitchFamily="18" charset="0"/>
              </a:rPr>
              <a:t>Gain de temps :</a:t>
            </a:r>
            <a:r>
              <a:rPr lang="fr-FR" altLang="fr-FR" sz="2400" dirty="0">
                <a:solidFill>
                  <a:schemeClr val="tx1"/>
                </a:solidFill>
                <a:latin typeface="Times New Roman" panose="02020603050405020304" pitchFamily="18" charset="0"/>
                <a:cs typeface="Times New Roman" panose="02020603050405020304" pitchFamily="18" charset="0"/>
              </a:rPr>
              <a:t> Ils fournissent des composants prêts à l'emploi (boutons, formulaires, barres de navigation) pour éviter de réinventer les bases. </a:t>
            </a:r>
          </a:p>
          <a:p>
            <a:pPr lvl="0" algn="just" eaLnBrk="0" fontAlgn="base" hangingPunct="0">
              <a:spcBef>
                <a:spcPct val="0"/>
              </a:spcBef>
              <a:spcAft>
                <a:spcPct val="0"/>
              </a:spcAft>
              <a:buClrTx/>
              <a:buFont typeface="Wingdings" panose="05000000000000000000" pitchFamily="2" charset="2"/>
              <a:buChar char="§"/>
            </a:pPr>
            <a:r>
              <a:rPr lang="fr-FR" altLang="fr-FR" sz="2400" b="1" dirty="0">
                <a:solidFill>
                  <a:schemeClr val="tx1"/>
                </a:solidFill>
                <a:latin typeface="Times New Roman" panose="02020603050405020304" pitchFamily="18" charset="0"/>
                <a:cs typeface="Times New Roman" panose="02020603050405020304" pitchFamily="18" charset="0"/>
              </a:rPr>
              <a:t>Gestion dynamique de l'affichage :</a:t>
            </a:r>
            <a:r>
              <a:rPr lang="fr-FR" altLang="fr-FR" sz="2400" dirty="0">
                <a:solidFill>
                  <a:schemeClr val="tx1"/>
                </a:solidFill>
                <a:latin typeface="Times New Roman" panose="02020603050405020304" pitchFamily="18" charset="0"/>
                <a:cs typeface="Times New Roman" panose="02020603050405020304" pitchFamily="18" charset="0"/>
              </a:rPr>
              <a:t> Ils synchronisent automatiquement l'état des données avec l'écran (le DOM), ce qui évite des manipulations de code répétitives et sources d'erreurs. </a:t>
            </a:r>
          </a:p>
          <a:p>
            <a:pPr marL="0" indent="0" algn="just">
              <a:buNone/>
            </a:pPr>
            <a:endParaRPr lang="fr-CM"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8083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a:latin typeface="Times New Roman" panose="02020603050405020304" pitchFamily="18" charset="0"/>
                <a:cs typeface="Times New Roman" panose="02020603050405020304" pitchFamily="18" charset="0"/>
              </a:rPr>
              <a:t>Pourquoi un Framework ou bibliothèque front-end ?</a:t>
            </a:r>
            <a:endParaRPr lang="fr-CM"/>
          </a:p>
        </p:txBody>
      </p:sp>
      <p:sp>
        <p:nvSpPr>
          <p:cNvPr id="4" name="Rectangle 1"/>
          <p:cNvSpPr>
            <a:spLocks noGrp="1" noChangeArrowheads="1"/>
          </p:cNvSpPr>
          <p:nvPr>
            <p:ph idx="1"/>
          </p:nvPr>
        </p:nvSpPr>
        <p:spPr bwMode="auto">
          <a:xfrm>
            <a:off x="770021" y="2680931"/>
            <a:ext cx="10684042"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Structure et organisation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Ils imposent une architecture claire (souvent basée sur des composants), ce qui rend le code plus facile à lire, à maintenir et à faire évoluer.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Performance et interactivité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Ils permettent de construire des applications fluides où les pages s'actualisent sans avoir à recharger tout le navigateur.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4549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latin typeface="Times New Roman" panose="02020603050405020304" pitchFamily="18" charset="0"/>
                <a:cs typeface="Times New Roman" panose="02020603050405020304" pitchFamily="18" charset="0"/>
              </a:rPr>
              <a:t>Structuration sémantique des </a:t>
            </a:r>
            <a:r>
              <a:rPr lang="fr-FR" b="1" dirty="0" smtClean="0">
                <a:latin typeface="Times New Roman" panose="02020603050405020304" pitchFamily="18" charset="0"/>
                <a:cs typeface="Times New Roman" panose="02020603050405020304" pitchFamily="18" charset="0"/>
              </a:rPr>
              <a:t>données en HTML5 et CSS3</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702644" y="2638044"/>
            <a:ext cx="10578164" cy="3101983"/>
          </a:xfrm>
        </p:spPr>
        <p:txBody>
          <a:bodyPr>
            <a:normAutofit/>
          </a:bodyPr>
          <a:lstStyle/>
          <a:p>
            <a:pPr marL="0" indent="0" algn="just">
              <a:buNone/>
            </a:pPr>
            <a:r>
              <a:rPr lang="fr-FR" sz="3600" dirty="0" smtClean="0">
                <a:latin typeface="Times New Roman" panose="02020603050405020304" pitchFamily="18" charset="0"/>
                <a:cs typeface="Times New Roman" panose="02020603050405020304" pitchFamily="18" charset="0"/>
              </a:rPr>
              <a:t>	La </a:t>
            </a:r>
            <a:r>
              <a:rPr lang="fr-FR" sz="3600" dirty="0">
                <a:latin typeface="Times New Roman" panose="02020603050405020304" pitchFamily="18" charset="0"/>
                <a:cs typeface="Times New Roman" panose="02020603050405020304" pitchFamily="18" charset="0"/>
              </a:rPr>
              <a:t>structuration sémantique en </a:t>
            </a:r>
            <a:r>
              <a:rPr lang="fr-FR" sz="3600" dirty="0" smtClean="0">
                <a:latin typeface="Times New Roman" panose="02020603050405020304" pitchFamily="18" charset="0"/>
                <a:cs typeface="Times New Roman" panose="02020603050405020304" pitchFamily="18" charset="0"/>
              </a:rPr>
              <a:t>HTML5 consiste à utiliser des balises qui décrivent le sens du contenu plutôt que son apparence, tandis que le </a:t>
            </a:r>
            <a:r>
              <a:rPr lang="fr-FR" sz="3600" dirty="0">
                <a:latin typeface="Times New Roman" panose="02020603050405020304" pitchFamily="18" charset="0"/>
                <a:cs typeface="Times New Roman" panose="02020603050405020304" pitchFamily="18" charset="0"/>
              </a:rPr>
              <a:t>CSS3</a:t>
            </a:r>
            <a:r>
              <a:rPr lang="fr-FR" sz="3600" dirty="0" smtClean="0">
                <a:latin typeface="Times New Roman" panose="02020603050405020304" pitchFamily="18" charset="0"/>
                <a:cs typeface="Times New Roman" panose="02020603050405020304" pitchFamily="18" charset="0"/>
              </a:rPr>
              <a:t> gère exclusivement la mise en forme visuelle</a:t>
            </a:r>
            <a:endParaRPr lang="fr-CM"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1687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1135" y="401277"/>
            <a:ext cx="8048937" cy="1188720"/>
          </a:xfrm>
        </p:spPr>
        <p:txBody>
          <a:bodyPr/>
          <a:lstStyle/>
          <a:p>
            <a:pPr marL="0" indent="0"/>
            <a:r>
              <a:rPr lang="fr-FR" b="1" dirty="0" smtClean="0">
                <a:latin typeface="Times New Roman" panose="02020603050405020304" pitchFamily="18" charset="0"/>
                <a:cs typeface="Times New Roman" panose="02020603050405020304" pitchFamily="18" charset="0"/>
              </a:rPr>
              <a:t>Rôle </a:t>
            </a:r>
            <a:r>
              <a:rPr lang="fr-FR" b="1" dirty="0" smtClean="0">
                <a:latin typeface="Times New Roman" panose="02020603050405020304" pitchFamily="18" charset="0"/>
                <a:cs typeface="Times New Roman" panose="02020603050405020304" pitchFamily="18" charset="0"/>
              </a:rPr>
              <a:t>de la sémantique en HTML5 </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794324" y="1708728"/>
            <a:ext cx="10603344" cy="4049772"/>
          </a:xfrm>
        </p:spPr>
        <p:txBody>
          <a:bodyPr>
            <a:noAutofit/>
          </a:bodyPr>
          <a:lstStyle/>
          <a:p>
            <a:pPr marL="0" indent="0" algn="just">
              <a:buNone/>
            </a:pPr>
            <a:r>
              <a:rPr kumimoji="0" lang="fr-FR" altLang="fr-FR" sz="27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Définition du sens :</a:t>
            </a:r>
            <a:r>
              <a:rPr kumimoji="0" lang="fr-FR" altLang="fr-FR" sz="27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balises comme &lt;header&gt;, &lt;</a:t>
            </a:r>
            <a:r>
              <a:rPr kumimoji="0" lang="fr-FR" altLang="fr-FR" sz="27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nav</a:t>
            </a:r>
            <a:r>
              <a:rPr kumimoji="0" lang="fr-FR" altLang="fr-FR" sz="27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&gt;, &lt;article&gt;, &lt;section&gt; et &lt;</a:t>
            </a:r>
            <a:r>
              <a:rPr kumimoji="0" lang="fr-FR" altLang="fr-FR" sz="27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footer</a:t>
            </a:r>
            <a:r>
              <a:rPr kumimoji="0" lang="fr-FR" altLang="fr-FR" sz="27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&gt; indiquent explicitement la nature du bloc</a:t>
            </a:r>
            <a:r>
              <a:rPr kumimoji="0" lang="fr-FR" altLang="fr-FR" sz="27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qu’elles contiennent</a:t>
            </a:r>
          </a:p>
          <a:p>
            <a:pPr marL="0" indent="0" algn="just">
              <a:buNone/>
            </a:pPr>
            <a:r>
              <a:rPr kumimoji="0" lang="fr-FR" altLang="fr-FR" sz="27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Abandon des balises génériques :</a:t>
            </a:r>
            <a:r>
              <a:rPr kumimoji="0" lang="fr-FR" altLang="fr-FR" sz="27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éléments neutres comme &lt;div&gt; ou &lt;</a:t>
            </a:r>
            <a:r>
              <a:rPr kumimoji="0" lang="fr-FR" altLang="fr-FR" sz="27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span</a:t>
            </a:r>
            <a:r>
              <a:rPr kumimoji="0" lang="fr-FR" altLang="fr-FR" sz="27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&gt; n'apportent aucun contexte et doivent être réservés aux cas sans alternative sémantique</a:t>
            </a:r>
          </a:p>
          <a:p>
            <a:pPr marL="0" indent="0" algn="just">
              <a:buNone/>
            </a:pPr>
            <a:r>
              <a:rPr kumimoji="0" lang="fr-FR" altLang="fr-FR" sz="27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Accessibilité (a11y) :</a:t>
            </a:r>
            <a:r>
              <a:rPr kumimoji="0" lang="fr-FR" altLang="fr-FR" sz="27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lecteurs d'écran utilisent cette structure pour guider les personnes malvoyantes à travers les sections principales de la page</a:t>
            </a:r>
          </a:p>
          <a:p>
            <a:pPr marL="0" indent="0" algn="just">
              <a:buNone/>
            </a:pPr>
            <a:r>
              <a:rPr kumimoji="0" lang="fr-FR" altLang="fr-FR" sz="27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Référencement (SEO) :</a:t>
            </a:r>
            <a:r>
              <a:rPr kumimoji="0" lang="fr-FR" altLang="fr-FR" sz="27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robots des moteurs de recherche comprennent mieux la hiérarchie et l'importance des informations d'un site</a:t>
            </a:r>
            <a:endParaRPr kumimoji="0" lang="fr-FR" altLang="fr-FR" sz="27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endParaRPr>
          </a:p>
          <a:p>
            <a:pPr marL="0" indent="0" algn="just">
              <a:buNone/>
            </a:pPr>
            <a:endParaRPr lang="fr-CM"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8268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44069" y="336623"/>
            <a:ext cx="8566173" cy="1188720"/>
          </a:xfrm>
        </p:spPr>
        <p:txBody>
          <a:bodyPr>
            <a:noAutofit/>
          </a:bodyPr>
          <a:lstStyle/>
          <a:p>
            <a:pPr lvl="0" eaLnBrk="0" fontAlgn="base" hangingPunct="0">
              <a:lnSpc>
                <a:spcPct val="100000"/>
              </a:lnSpc>
              <a:spcAft>
                <a:spcPct val="0"/>
              </a:spcAft>
            </a:pPr>
            <a:r>
              <a:rPr lang="fr-FR" altLang="fr-FR" b="1" dirty="0">
                <a:latin typeface="Times New Roman" panose="02020603050405020304" pitchFamily="18" charset="0"/>
                <a:cs typeface="Times New Roman" panose="02020603050405020304" pitchFamily="18" charset="0"/>
              </a:rPr>
              <a:t>Apport du CSS3 pour la mise en page</a:t>
            </a:r>
            <a:endParaRPr lang="fr-FR" altLang="fr-FR"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554182" y="2210082"/>
            <a:ext cx="10982036"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Séparation des préoccupations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style (couleurs, polices, dispositions) est entièrement délégué aux feuilles de style CSS et non au HTML. </a:t>
            </a:r>
          </a:p>
          <a:p>
            <a:pPr marL="0" marR="0" lvl="0" indent="0" algn="just" defTabSz="914400" rtl="0" eaLnBrk="0" fontAlgn="base" latinLnBrk="0" hangingPunct="0">
              <a:lnSpc>
                <a:spcPct val="100000"/>
              </a:lnSpc>
              <a:spcBef>
                <a:spcPct val="0"/>
              </a:spcBef>
              <a:spcAft>
                <a:spcPct val="0"/>
              </a:spcAft>
              <a:buClrTx/>
              <a:buSzTx/>
              <a:buNone/>
              <a:tabLst/>
            </a:pPr>
            <a:r>
              <a:rPr lang="fr-FR" altLang="fr-FR" sz="2800" b="1" dirty="0" smtClean="0">
                <a:latin typeface="Times New Roman" panose="02020603050405020304" pitchFamily="18" charset="0"/>
                <a:cs typeface="Times New Roman" panose="02020603050405020304" pitchFamily="18" charset="0"/>
              </a:rPr>
              <a:t>- </a:t>
            </a: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CSS sémantique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Consiste à cibler directement les balises sémantiques ou des classes explicites qui reflètent l'état du contenu, garantissant un code maintenable. </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Outils modernes de mise en page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L'utilisation conjointe de </a:t>
            </a:r>
            <a:r>
              <a:rPr kumimoji="0" lang="fr-FR" altLang="fr-FR" sz="28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Flexbox</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 de </a:t>
            </a:r>
            <a:r>
              <a:rPr kumimoji="0" lang="fr-FR" altLang="fr-FR" sz="28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Grid</a:t>
            </a:r>
            <a:r>
              <a:rPr kumimoji="0" lang="fr-FR" altLang="fr-FR" sz="28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fr-FR" altLang="fr-FR" sz="28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Layout</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en CSS3 permet d'organiser visuellement les blocs sémantiques HTML sans modifier la structure des données.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836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latin typeface="Times New Roman" panose="02020603050405020304" pitchFamily="18" charset="0"/>
                <a:cs typeface="Times New Roman" panose="02020603050405020304" pitchFamily="18" charset="0"/>
              </a:rPr>
              <a:t>Design adaptatif (</a:t>
            </a:r>
            <a:r>
              <a:rPr lang="fr-FR" b="1" i="1" dirty="0" smtClean="0">
                <a:latin typeface="Times New Roman" panose="02020603050405020304" pitchFamily="18" charset="0"/>
                <a:cs typeface="Times New Roman" panose="02020603050405020304" pitchFamily="18" charset="0"/>
              </a:rPr>
              <a:t>adaptive web design</a:t>
            </a:r>
            <a:r>
              <a:rPr lang="fr-FR" b="1" dirty="0" smtClean="0">
                <a:latin typeface="Times New Roman" panose="02020603050405020304" pitchFamily="18" charset="0"/>
                <a:cs typeface="Times New Roman" panose="02020603050405020304" pitchFamily="18" charset="0"/>
              </a:rPr>
              <a:t>)</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1126835" y="2638044"/>
            <a:ext cx="9818255" cy="3101983"/>
          </a:xfrm>
        </p:spPr>
        <p:txBody>
          <a:bodyPr>
            <a:normAutofit/>
          </a:bodyPr>
          <a:lstStyle/>
          <a:p>
            <a:pPr marL="0" indent="0" algn="just">
              <a:buNone/>
            </a:pPr>
            <a:r>
              <a:rPr lang="fr-FR" sz="3200" dirty="0" smtClean="0">
                <a:latin typeface="Times New Roman" panose="02020603050405020304" pitchFamily="18" charset="0"/>
                <a:cs typeface="Times New Roman" panose="02020603050405020304" pitchFamily="18" charset="0"/>
              </a:rPr>
              <a:t>	C’est </a:t>
            </a:r>
            <a:r>
              <a:rPr lang="fr-FR" sz="3200" dirty="0" smtClean="0">
                <a:latin typeface="Times New Roman" panose="02020603050405020304" pitchFamily="18" charset="0"/>
                <a:cs typeface="Times New Roman" panose="02020603050405020304" pitchFamily="18" charset="0"/>
              </a:rPr>
              <a:t>une technique de conception de sites web qui utilise plusieurs mises en page fixes prédéfinies pour s'adapter à des tailles d'écran spécifiques</a:t>
            </a:r>
            <a:endParaRPr lang="fr-CM"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0287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33054" y="645342"/>
            <a:ext cx="9725891" cy="1188720"/>
          </a:xfrm>
        </p:spPr>
        <p:txBody>
          <a:bodyPr/>
          <a:lstStyle/>
          <a:p>
            <a:r>
              <a:rPr lang="fr-FR" b="1" dirty="0" smtClean="0">
                <a:latin typeface="Times New Roman" panose="02020603050405020304" pitchFamily="18" charset="0"/>
                <a:cs typeface="Times New Roman" panose="02020603050405020304" pitchFamily="18" charset="0"/>
              </a:rPr>
              <a:t>Design adaptatif (</a:t>
            </a:r>
            <a:r>
              <a:rPr lang="fr-FR" b="1" i="1" dirty="0" smtClean="0">
                <a:latin typeface="Times New Roman" panose="02020603050405020304" pitchFamily="18" charset="0"/>
                <a:cs typeface="Times New Roman" panose="02020603050405020304" pitchFamily="18" charset="0"/>
              </a:rPr>
              <a:t>adaptive web design</a:t>
            </a:r>
            <a:r>
              <a:rPr lang="fr-FR" b="1" dirty="0" smtClean="0">
                <a:latin typeface="Times New Roman" panose="02020603050405020304" pitchFamily="18" charset="0"/>
                <a:cs typeface="Times New Roman" panose="02020603050405020304" pitchFamily="18" charset="0"/>
              </a:rPr>
              <a:t>)</a:t>
            </a:r>
            <a:endParaRPr lang="fr-CM"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2197241"/>
            <a:ext cx="10515600" cy="3626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6176" rIns="0" bIns="101568"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Comment ça fonctionne ?</a:t>
            </a:r>
            <a:endPar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système détecte l'appareil ou la largeur exacte de l'écran de l'utilisateur.</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site choisit automatiquement la mise en page fixe (parmi plusieurs options créées à l'avance) qui correspond le mieux à cet écran.</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Contrairement au design fluide, la disposition ne change pas de taille en continu lorsque l'on redimensionne la fenêtre du navigateur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5537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90255" y="964692"/>
            <a:ext cx="9421089" cy="1188720"/>
          </a:xfrm>
        </p:spPr>
        <p:txBody>
          <a:bodyPr/>
          <a:lstStyle/>
          <a:p>
            <a:r>
              <a:rPr lang="fr-FR" b="1" dirty="0" smtClean="0">
                <a:latin typeface="Times New Roman" panose="02020603050405020304" pitchFamily="18" charset="0"/>
                <a:cs typeface="Times New Roman" panose="02020603050405020304" pitchFamily="18" charset="0"/>
              </a:rPr>
              <a:t>Design adaptatif (</a:t>
            </a:r>
            <a:r>
              <a:rPr lang="fr-FR" b="1" i="1" dirty="0" smtClean="0">
                <a:latin typeface="Times New Roman" panose="02020603050405020304" pitchFamily="18" charset="0"/>
                <a:cs typeface="Times New Roman" panose="02020603050405020304" pitchFamily="18" charset="0"/>
              </a:rPr>
              <a:t>adaptive web design</a:t>
            </a:r>
            <a:r>
              <a:rPr lang="fr-FR" b="1" dirty="0" smtClean="0">
                <a:latin typeface="Times New Roman" panose="02020603050405020304" pitchFamily="18" charset="0"/>
                <a:cs typeface="Times New Roman" panose="02020603050405020304" pitchFamily="18" charset="0"/>
              </a:rPr>
              <a:t>)</a:t>
            </a:r>
            <a:endParaRPr lang="fr-CM"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1" y="2265502"/>
            <a:ext cx="10515600"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Les points clés</a:t>
            </a:r>
            <a:endPar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Mises en page fixes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design est conçu pour des largeurs d'écran précises (par exemple, mobile, tablette et ordinateur</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Contrôle </a:t>
            </a: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total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Il offre un contrôle précis sur l'apparence et le contenu affiché pour chaque type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d'appareil.</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Différence </a:t>
            </a:r>
            <a:r>
              <a:rPr kumimoji="0" lang="fr-FR" altLang="fr-FR"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avec le responsive :</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a:t>
            </a:r>
            <a:r>
              <a:rPr kumimoji="0" lang="fr-FR" altLang="fr-FR" sz="28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responsive design</a:t>
            </a:r>
            <a:r>
              <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utilise une seule grille fluide qui s'ajuste continuellement, tandis que l'adaptatif bascule entre des versions distinctes.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1065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77817" y="964692"/>
            <a:ext cx="9264073" cy="1188720"/>
          </a:xfrm>
        </p:spPr>
        <p:txBody>
          <a:bodyPr/>
          <a:lstStyle/>
          <a:p>
            <a:r>
              <a:rPr lang="fr-FR" b="1" dirty="0" smtClean="0">
                <a:latin typeface="Times New Roman" panose="02020603050405020304" pitchFamily="18" charset="0"/>
                <a:cs typeface="Times New Roman" panose="02020603050405020304" pitchFamily="18" charset="0"/>
              </a:rPr>
              <a:t>Design adaptatif (</a:t>
            </a:r>
            <a:r>
              <a:rPr lang="fr-FR" b="1" i="1" dirty="0" smtClean="0">
                <a:latin typeface="Times New Roman" panose="02020603050405020304" pitchFamily="18" charset="0"/>
                <a:cs typeface="Times New Roman" panose="02020603050405020304" pitchFamily="18" charset="0"/>
              </a:rPr>
              <a:t>adaptive web design</a:t>
            </a:r>
            <a:r>
              <a:rPr lang="fr-FR" b="1" dirty="0" smtClean="0">
                <a:latin typeface="Times New Roman" panose="02020603050405020304" pitchFamily="18" charset="0"/>
                <a:cs typeface="Times New Roman" panose="02020603050405020304" pitchFamily="18" charset="0"/>
              </a:rPr>
              <a:t>)</a:t>
            </a:r>
            <a:endParaRPr lang="fr-CM"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2277745"/>
            <a:ext cx="10515600"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Avantages et limites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Avantages :</a:t>
            </a:r>
            <a:r>
              <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Offre une expérience sur mesure et très optimisée pour chaque support.</a:t>
            </a:r>
          </a:p>
          <a:p>
            <a:pPr marL="0" marR="0" lvl="0" indent="0" algn="just" defTabSz="914400" rtl="0" eaLnBrk="0" fontAlgn="base" latinLnBrk="0" hangingPunct="0">
              <a:lnSpc>
                <a:spcPct val="100000"/>
              </a:lnSpc>
              <a:spcBef>
                <a:spcPct val="0"/>
              </a:spcBef>
              <a:spcAft>
                <a:spcPct val="0"/>
              </a:spcAft>
              <a:buClrTx/>
              <a:buSzTx/>
              <a:buNone/>
              <a:tabLst/>
            </a:pPr>
            <a:r>
              <a:rPr lang="fr-FR" altLang="fr-FR" sz="3200" b="1" dirty="0" smtClean="0">
                <a:latin typeface="Times New Roman" panose="02020603050405020304" pitchFamily="18" charset="0"/>
                <a:cs typeface="Times New Roman" panose="02020603050405020304" pitchFamily="18" charset="0"/>
              </a:rPr>
              <a:t>- Limites</a:t>
            </a:r>
            <a:r>
              <a:rPr kumimoji="0" lang="fr-FR" altLang="fr-FR" sz="3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Sa mise en place est plus complexe, plus longue et plus coûteuse car elle demande de créer plusieurs versions d'une même page.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2191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marL="0" indent="0"/>
            <a:r>
              <a:rPr lang="fr-FR" b="1" dirty="0" smtClean="0">
                <a:latin typeface="Times New Roman" panose="02020603050405020304" pitchFamily="18" charset="0"/>
                <a:cs typeface="Times New Roman" panose="02020603050405020304" pitchFamily="18" charset="0"/>
              </a:rPr>
              <a:t>Dynamisation des interfaces</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1062181" y="2638044"/>
            <a:ext cx="10049163" cy="3101983"/>
          </a:xfrm>
        </p:spPr>
        <p:txBody>
          <a:bodyPr>
            <a:noAutofit/>
          </a:bodyPr>
          <a:lstStyle/>
          <a:p>
            <a:pPr marL="0" indent="0">
              <a:buNone/>
            </a:pPr>
            <a:r>
              <a:rPr lang="fr-FR" sz="2400" dirty="0" smtClean="0">
                <a:latin typeface="Times New Roman" panose="02020603050405020304" pitchFamily="18" charset="0"/>
                <a:cs typeface="Times New Roman" panose="02020603050405020304" pitchFamily="18" charset="0"/>
              </a:rPr>
              <a:t>	Elle </a:t>
            </a:r>
            <a:r>
              <a:rPr lang="fr-FR" sz="2400" dirty="0" smtClean="0">
                <a:latin typeface="Times New Roman" panose="02020603050405020304" pitchFamily="18" charset="0"/>
                <a:cs typeface="Times New Roman" panose="02020603050405020304" pitchFamily="18" charset="0"/>
              </a:rPr>
              <a:t>consiste à rendre une interface utilisateur interactive et réactive aux actions de l'utilisateur en temps réel, sans avoir à recharger toute la page. </a:t>
            </a:r>
          </a:p>
          <a:p>
            <a:pPr marL="0" indent="0">
              <a:buNone/>
            </a:pPr>
            <a:endParaRPr lang="fr-FR" sz="2400" dirty="0">
              <a:latin typeface="Times New Roman" panose="02020603050405020304" pitchFamily="18" charset="0"/>
              <a:cs typeface="Times New Roman" panose="02020603050405020304" pitchFamily="18" charset="0"/>
            </a:endParaRPr>
          </a:p>
          <a:p>
            <a:pPr marL="0" indent="0">
              <a:buNone/>
            </a:pPr>
            <a:r>
              <a:rPr lang="fr-FR" sz="2400" b="1" i="1" u="sng" dirty="0" smtClean="0">
                <a:latin typeface="Times New Roman" panose="02020603050405020304" pitchFamily="18" charset="0"/>
                <a:cs typeface="Times New Roman" panose="02020603050405020304" pitchFamily="18" charset="0"/>
              </a:rPr>
              <a:t>Principe de la dynamisation des interfaces</a:t>
            </a:r>
          </a:p>
          <a:p>
            <a:pPr marL="0" indent="0">
              <a:buNone/>
            </a:pPr>
            <a:r>
              <a:rPr lang="fr-FR" sz="2400" dirty="0" smtClean="0">
                <a:latin typeface="Times New Roman" panose="02020603050405020304" pitchFamily="18" charset="0"/>
                <a:cs typeface="Times New Roman" panose="02020603050405020304" pitchFamily="18" charset="0"/>
              </a:rPr>
              <a:t>	Une interface dynamique adapte son contenu, son style ou sa structure selon le comportement de l'utilisateur (clics, survols, saisie de formulaires). Par exemple, un champ supplémentaire apparaît dans un formulaire lorsqu'une option spécifique est sélectionnée</a:t>
            </a:r>
            <a:endParaRPr lang="fr-CM"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526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latin typeface="Times New Roman" panose="02020603050405020304" pitchFamily="18" charset="0"/>
                <a:cs typeface="Times New Roman" panose="02020603050405020304" pitchFamily="18" charset="0"/>
              </a:rPr>
              <a:t>Dynamisation des interfaces</a:t>
            </a:r>
            <a:endParaRPr lang="fr-CM"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1" y="2385467"/>
            <a:ext cx="1051560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3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Avantages principaux</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3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Réactivité :</a:t>
            </a:r>
            <a:r>
              <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Réponse immédiate aux actions de l'utilisateur.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3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Expérience utilisateur (UX) :</a:t>
            </a:r>
            <a:r>
              <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Navigation plus fluide, épurée et naturelle qui réduit la charge cognitive.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3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Performance :</a:t>
            </a:r>
            <a:r>
              <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Moins de rechargements complets de pages, ce qui économise la bande passante et accélère l'utilisation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4352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latin typeface="Times New Roman" panose="02020603050405020304" pitchFamily="18" charset="0"/>
                <a:cs typeface="Times New Roman" panose="02020603050405020304" pitchFamily="18" charset="0"/>
              </a:rPr>
              <a:t>Manipulation du DOM</a:t>
            </a:r>
            <a:endParaRPr lang="fr-CM"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775855" y="2638044"/>
            <a:ext cx="10455563" cy="3101983"/>
          </a:xfrm>
        </p:spPr>
        <p:txBody>
          <a:bodyPr>
            <a:noAutofit/>
          </a:bodyPr>
          <a:lstStyle/>
          <a:p>
            <a:pPr marL="0" indent="0" algn="just">
              <a:buNone/>
            </a:pPr>
            <a:r>
              <a:rPr lang="fr-FR" altLang="fr-FR" sz="2800" dirty="0" smtClean="0">
                <a:latin typeface="Arial" panose="020B0604020202020204" pitchFamily="34" charset="0"/>
              </a:rPr>
              <a:t>	</a:t>
            </a:r>
            <a:r>
              <a:rPr lang="fr-FR" sz="2800" dirty="0" smtClean="0">
                <a:latin typeface="Times New Roman" panose="02020603050405020304" pitchFamily="18" charset="0"/>
                <a:cs typeface="Times New Roman" panose="02020603050405020304" pitchFamily="18" charset="0"/>
              </a:rPr>
              <a:t> Le DOM (Document Object Model) est une</a:t>
            </a:r>
            <a:r>
              <a:rPr lang="fr-FR" altLang="fr-FR" sz="2800" dirty="0" smtClean="0">
                <a:latin typeface="Times New Roman" panose="02020603050405020304" pitchFamily="18" charset="0"/>
                <a:cs typeface="Times New Roman" panose="02020603050405020304" pitchFamily="18" charset="0"/>
              </a:rPr>
              <a:t> </a:t>
            </a:r>
            <a:r>
              <a:rPr lang="fr-FR" altLang="fr-FR" sz="2800" dirty="0">
                <a:latin typeface="Times New Roman" panose="02020603050405020304" pitchFamily="18" charset="0"/>
                <a:cs typeface="Times New Roman" panose="02020603050405020304" pitchFamily="18" charset="0"/>
              </a:rPr>
              <a:t>interface de programmation qui représente une page web sous forme d'un arbre d'objets, </a:t>
            </a:r>
            <a:r>
              <a:rPr lang="fr-FR" altLang="fr-FR" sz="2800" dirty="0" smtClean="0">
                <a:latin typeface="Times New Roman" panose="02020603050405020304" pitchFamily="18" charset="0"/>
                <a:cs typeface="Times New Roman" panose="02020603050405020304" pitchFamily="18" charset="0"/>
              </a:rPr>
              <a:t>permettant </a:t>
            </a:r>
            <a:r>
              <a:rPr lang="fr-FR" altLang="fr-FR" sz="2800" dirty="0">
                <a:latin typeface="Times New Roman" panose="02020603050405020304" pitchFamily="18" charset="0"/>
                <a:cs typeface="Times New Roman" panose="02020603050405020304" pitchFamily="18" charset="0"/>
              </a:rPr>
              <a:t>aux scripts (comme JavaScript) de lire et de modifier le contenu, la structure et le style du document</a:t>
            </a:r>
            <a:r>
              <a:rPr kumimoji="0" lang="fr-FR" altLang="fr-FR" sz="2800" b="0" i="0" u="none" strike="noStrike" cap="none" normalizeH="0" baseline="0" dirty="0" smtClean="0">
                <a:ln>
                  <a:noFill/>
                </a:ln>
                <a:solidFill>
                  <a:srgbClr val="0A0A0A"/>
                </a:solidFill>
                <a:effectLst/>
                <a:latin typeface="Times New Roman" panose="02020603050405020304" pitchFamily="18" charset="0"/>
                <a:cs typeface="Times New Roman" panose="02020603050405020304" pitchFamily="18" charset="0"/>
              </a:rPr>
              <a:t>.</a:t>
            </a:r>
            <a:endParaRPr lang="fr-FR" sz="2800" dirty="0" smtClean="0">
              <a:latin typeface="Times New Roman" panose="02020603050405020304" pitchFamily="18" charset="0"/>
              <a:cs typeface="Times New Roman" panose="02020603050405020304" pitchFamily="18" charset="0"/>
            </a:endParaRPr>
          </a:p>
          <a:p>
            <a:pPr marL="0" indent="0" algn="just">
              <a:buNone/>
            </a:pPr>
            <a:r>
              <a:rPr lang="fr-FR" sz="2800" dirty="0" smtClean="0">
                <a:latin typeface="Times New Roman" panose="02020603050405020304" pitchFamily="18" charset="0"/>
                <a:cs typeface="Times New Roman" panose="02020603050405020304" pitchFamily="18" charset="0"/>
              </a:rPr>
              <a:t>	La manipulation du DOM </a:t>
            </a:r>
            <a:r>
              <a:rPr lang="fr-FR" sz="2800" dirty="0">
                <a:latin typeface="Times New Roman" panose="02020603050405020304" pitchFamily="18" charset="0"/>
                <a:cs typeface="Times New Roman" panose="02020603050405020304" pitchFamily="18" charset="0"/>
              </a:rPr>
              <a:t>en JavaScript permet de modifier dynamiquement le contenu, la structure et le style d'une page web après son chargement. </a:t>
            </a: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8513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1136" y="567534"/>
            <a:ext cx="7729728" cy="1188720"/>
          </a:xfrm>
        </p:spPr>
        <p:txBody>
          <a:bodyPr/>
          <a:lstStyle/>
          <a:p>
            <a:pPr algn="ctr"/>
            <a:r>
              <a:rPr lang="fr-FR" altLang="fr-FR" b="1" dirty="0">
                <a:solidFill>
                  <a:srgbClr val="001D35"/>
                </a:solidFill>
                <a:latin typeface="Times New Roman" panose="02020603050405020304" pitchFamily="18" charset="0"/>
                <a:cs typeface="Times New Roman" panose="02020603050405020304" pitchFamily="18" charset="0"/>
              </a:rPr>
              <a:t>Utilité principale</a:t>
            </a:r>
            <a:endParaRPr lang="fr-CM" dirty="0">
              <a:latin typeface="Times New Roman" panose="02020603050405020304" pitchFamily="18" charset="0"/>
              <a:cs typeface="Times New Roman" panose="02020603050405020304" pitchFamily="18" charset="0"/>
            </a:endParaRPr>
          </a:p>
        </p:txBody>
      </p:sp>
      <p:sp>
        <p:nvSpPr>
          <p:cNvPr id="5" name="Espace réservé du contenu 2"/>
          <p:cNvSpPr>
            <a:spLocks noGrp="1"/>
          </p:cNvSpPr>
          <p:nvPr>
            <p:ph idx="1"/>
          </p:nvPr>
        </p:nvSpPr>
        <p:spPr>
          <a:xfrm>
            <a:off x="785091" y="2638044"/>
            <a:ext cx="10566399" cy="3101983"/>
          </a:xfrm>
        </p:spPr>
        <p:txBody>
          <a:bodyPr>
            <a:normAutofit/>
          </a:bodyPr>
          <a:lstStyle/>
          <a:p>
            <a:pPr marL="0" lvl="0" indent="0" algn="just" eaLnBrk="0" fontAlgn="base" hangingPunct="0">
              <a:spcBef>
                <a:spcPct val="0"/>
              </a:spcBef>
              <a:spcAft>
                <a:spcPct val="0"/>
              </a:spcAft>
              <a:buClrTx/>
              <a:buNone/>
            </a:pPr>
            <a:r>
              <a:rPr lang="fr-FR" altLang="fr-FR" sz="2400" dirty="0">
                <a:solidFill>
                  <a:srgbClr val="0A0A0A"/>
                </a:solidFill>
                <a:latin typeface="Times New Roman" panose="02020603050405020304" pitchFamily="18" charset="0"/>
                <a:cs typeface="Times New Roman" panose="02020603050405020304" pitchFamily="18" charset="0"/>
              </a:rPr>
              <a:t>Grâce au DOM, un développeur peut utiliser </a:t>
            </a:r>
            <a:r>
              <a:rPr lang="fr-FR" altLang="fr-FR" sz="2400" dirty="0">
                <a:latin typeface="Times New Roman" panose="02020603050405020304" pitchFamily="18" charset="0"/>
                <a:cs typeface="Times New Roman" panose="02020603050405020304" pitchFamily="18" charset="0"/>
              </a:rPr>
              <a:t>JavaScript</a:t>
            </a:r>
            <a:r>
              <a:rPr lang="fr-FR" altLang="fr-FR" sz="2400" dirty="0">
                <a:solidFill>
                  <a:srgbClr val="0A0A0A"/>
                </a:solidFill>
                <a:latin typeface="Times New Roman" panose="02020603050405020304" pitchFamily="18" charset="0"/>
                <a:cs typeface="Times New Roman" panose="02020603050405020304" pitchFamily="18" charset="0"/>
              </a:rPr>
              <a:t> pour :</a:t>
            </a:r>
            <a:endParaRPr lang="fr-FR" altLang="fr-FR" sz="24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None/>
            </a:pPr>
            <a:r>
              <a:rPr lang="fr-FR" altLang="fr-FR" sz="2400" b="1" dirty="0">
                <a:solidFill>
                  <a:srgbClr val="0A0A0A"/>
                </a:solidFill>
                <a:latin typeface="Times New Roman" panose="02020603050405020304" pitchFamily="18" charset="0"/>
                <a:cs typeface="Times New Roman" panose="02020603050405020304" pitchFamily="18" charset="0"/>
              </a:rPr>
              <a:t>- Modifier</a:t>
            </a:r>
            <a:r>
              <a:rPr lang="fr-FR" altLang="fr-FR" sz="2400" dirty="0">
                <a:solidFill>
                  <a:srgbClr val="0A0A0A"/>
                </a:solidFill>
                <a:latin typeface="Times New Roman" panose="02020603050405020304" pitchFamily="18" charset="0"/>
                <a:cs typeface="Times New Roman" panose="02020603050405020304" pitchFamily="18" charset="0"/>
              </a:rPr>
              <a:t> le texte, les images ou les styles CSS d'une page en direct.</a:t>
            </a:r>
          </a:p>
          <a:p>
            <a:pPr marL="0" lvl="0" indent="0" algn="just" eaLnBrk="0" fontAlgn="base" hangingPunct="0">
              <a:spcBef>
                <a:spcPct val="0"/>
              </a:spcBef>
              <a:spcAft>
                <a:spcPct val="0"/>
              </a:spcAft>
              <a:buClrTx/>
              <a:buNone/>
            </a:pPr>
            <a:r>
              <a:rPr lang="fr-FR" altLang="fr-FR" sz="2400" b="1" dirty="0">
                <a:solidFill>
                  <a:srgbClr val="0A0A0A"/>
                </a:solidFill>
                <a:latin typeface="Times New Roman" panose="02020603050405020304" pitchFamily="18" charset="0"/>
                <a:cs typeface="Times New Roman" panose="02020603050405020304" pitchFamily="18" charset="0"/>
              </a:rPr>
              <a:t>- Ajouter ou supprimer</a:t>
            </a:r>
            <a:r>
              <a:rPr lang="fr-FR" altLang="fr-FR" sz="2400" dirty="0">
                <a:solidFill>
                  <a:srgbClr val="0A0A0A"/>
                </a:solidFill>
                <a:latin typeface="Times New Roman" panose="02020603050405020304" pitchFamily="18" charset="0"/>
                <a:cs typeface="Times New Roman" panose="02020603050405020304" pitchFamily="18" charset="0"/>
              </a:rPr>
              <a:t> des éléments HTML sans avoir à recharger la page.</a:t>
            </a:r>
          </a:p>
          <a:p>
            <a:pPr marL="0" lvl="0" indent="0" algn="just" eaLnBrk="0" fontAlgn="base" hangingPunct="0">
              <a:spcBef>
                <a:spcPct val="0"/>
              </a:spcBef>
              <a:spcAft>
                <a:spcPct val="0"/>
              </a:spcAft>
              <a:buClrTx/>
              <a:buNone/>
            </a:pPr>
            <a:r>
              <a:rPr lang="fr-FR" altLang="fr-FR" sz="2400" b="1" dirty="0">
                <a:solidFill>
                  <a:srgbClr val="0A0A0A"/>
                </a:solidFill>
                <a:latin typeface="Times New Roman" panose="02020603050405020304" pitchFamily="18" charset="0"/>
                <a:cs typeface="Times New Roman" panose="02020603050405020304" pitchFamily="18" charset="0"/>
              </a:rPr>
              <a:t>- Interagir</a:t>
            </a:r>
            <a:r>
              <a:rPr lang="fr-FR" altLang="fr-FR" sz="2400" dirty="0">
                <a:solidFill>
                  <a:srgbClr val="0A0A0A"/>
                </a:solidFill>
                <a:latin typeface="Times New Roman" panose="02020603050405020304" pitchFamily="18" charset="0"/>
                <a:cs typeface="Times New Roman" panose="02020603050405020304" pitchFamily="18" charset="0"/>
              </a:rPr>
              <a:t> avec l'utilisateur en réagissant à des événements (comme un clic ou une saisie de formulaire). </a:t>
            </a:r>
          </a:p>
          <a:p>
            <a:pPr marL="0" indent="0" algn="just">
              <a:buNone/>
            </a:pPr>
            <a:endParaRPr lang="fr-CM"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548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1136" y="964691"/>
            <a:ext cx="7729728" cy="5352981"/>
          </a:xfrm>
        </p:spPr>
        <p:txBody>
          <a:bodyPr>
            <a:normAutofit/>
          </a:bodyPr>
          <a:lstStyle/>
          <a:p>
            <a:pPr>
              <a:lnSpc>
                <a:spcPct val="300000"/>
              </a:lnSpc>
            </a:pPr>
            <a:r>
              <a:rPr lang="fr-FR" sz="3200" b="1" dirty="0" smtClean="0">
                <a:latin typeface="Times New Roman" panose="02020603050405020304" pitchFamily="18" charset="0"/>
                <a:cs typeface="Times New Roman" panose="02020603050405020304" pitchFamily="18" charset="0"/>
              </a:rPr>
              <a:t>FIN DU PREMIER MODULE. </a:t>
            </a:r>
            <a:br>
              <a:rPr lang="fr-FR" sz="3200" b="1" dirty="0" smtClean="0">
                <a:latin typeface="Times New Roman" panose="02020603050405020304" pitchFamily="18" charset="0"/>
                <a:cs typeface="Times New Roman" panose="02020603050405020304" pitchFamily="18" charset="0"/>
              </a:rPr>
            </a:br>
            <a:r>
              <a:rPr lang="fr-FR" sz="3200" b="1" dirty="0" smtClean="0">
                <a:latin typeface="Times New Roman" panose="02020603050405020304" pitchFamily="18" charset="0"/>
                <a:cs typeface="Times New Roman" panose="02020603050405020304" pitchFamily="18" charset="0"/>
              </a:rPr>
              <a:t>RENDEZ-VOUS AU PROCHAIN</a:t>
            </a:r>
            <a:endParaRPr lang="fr-CM"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413908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TM10001115[[fn=Colis]]</Template>
  <TotalTime>4604</TotalTime>
  <Words>886</Words>
  <Application>Microsoft Office PowerPoint</Application>
  <PresentationFormat>Grand écran</PresentationFormat>
  <Paragraphs>104</Paragraphs>
  <Slides>26</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26</vt:i4>
      </vt:variant>
    </vt:vector>
  </HeadingPairs>
  <TitlesOfParts>
    <vt:vector size="31" baseType="lpstr">
      <vt:lpstr>Arial</vt:lpstr>
      <vt:lpstr>Gill Sans MT</vt:lpstr>
      <vt:lpstr>Times New Roman</vt:lpstr>
      <vt:lpstr>Wingdings</vt:lpstr>
      <vt:lpstr>Parcel</vt:lpstr>
      <vt:lpstr>Module 1 :  </vt:lpstr>
      <vt:lpstr>LES CONCEPTS DE BASE DU WEB FRONT-END</vt:lpstr>
      <vt:lpstr>C’est quoi le front-end?</vt:lpstr>
      <vt:lpstr>Rôle du front-end</vt:lpstr>
      <vt:lpstr>Présentation des Frameworks front-end :</vt:lpstr>
      <vt:lpstr>Présentation des frameworks front-end</vt:lpstr>
      <vt:lpstr>Pourquoi utiliser les frameworks ? </vt:lpstr>
      <vt:lpstr>Les avantages d’un framework ? </vt:lpstr>
      <vt:lpstr>Les frameworks front-end</vt:lpstr>
      <vt:lpstr>Pourquoi un Framework ou bibliothèque front-end ?</vt:lpstr>
      <vt:lpstr>Pourquoi un Framework ou bibliothèque front-end ?</vt:lpstr>
      <vt:lpstr>Pourquoi un Framework ou bibliothèque front-end ?</vt:lpstr>
      <vt:lpstr>Pourquoi un Framework ou bibliothèque front-end ?</vt:lpstr>
      <vt:lpstr>Pourquoi un Framework ou bibliothèque front-end ?</vt:lpstr>
      <vt:lpstr>Structuration sémantique des données en HTML5 et CSS3</vt:lpstr>
      <vt:lpstr>Rôle de la sémantique en HTML5 </vt:lpstr>
      <vt:lpstr>Apport du CSS3 pour la mise en page</vt:lpstr>
      <vt:lpstr>Design adaptatif (adaptive web design)</vt:lpstr>
      <vt:lpstr>Design adaptatif (adaptive web design)</vt:lpstr>
      <vt:lpstr>Design adaptatif (adaptive web design)</vt:lpstr>
      <vt:lpstr>Design adaptatif (adaptive web design)</vt:lpstr>
      <vt:lpstr>Dynamisation des interfaces</vt:lpstr>
      <vt:lpstr>Dynamisation des interfaces</vt:lpstr>
      <vt:lpstr>Manipulation du DOM</vt:lpstr>
      <vt:lpstr>Utilité principale</vt:lpstr>
      <vt:lpstr>FIN DU PREMIER MODULE.  RENDEZ-VOUS AU PROCHAIN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dc:title>
  <dc:creator>EmergenceComputer</dc:creator>
  <cp:lastModifiedBy>EmergenceComputer</cp:lastModifiedBy>
  <cp:revision>32</cp:revision>
  <dcterms:created xsi:type="dcterms:W3CDTF">2026-09-19T21:51:52Z</dcterms:created>
  <dcterms:modified xsi:type="dcterms:W3CDTF">2026-09-26T21:26:48Z</dcterms:modified>
</cp:coreProperties>
</file>