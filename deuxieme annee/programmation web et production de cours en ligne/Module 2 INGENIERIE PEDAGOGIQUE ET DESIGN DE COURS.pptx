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smtClean="0"/>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1F9170C5-1B0F-472B-84D6-E5E044E77050}" type="datetimeFigureOut">
              <a:rPr lang="fr-CM" smtClean="0"/>
              <a:t>04/10/2026</a:t>
            </a:fld>
            <a:endParaRPr lang="fr-CM"/>
          </a:p>
        </p:txBody>
      </p:sp>
      <p:sp>
        <p:nvSpPr>
          <p:cNvPr id="5" name="Footer Placeholder 4"/>
          <p:cNvSpPr>
            <a:spLocks noGrp="1"/>
          </p:cNvSpPr>
          <p:nvPr>
            <p:ph type="ftr" sz="quarter" idx="11"/>
          </p:nvPr>
        </p:nvSpPr>
        <p:spPr/>
        <p:txBody>
          <a:bodyPr/>
          <a:lstStyle/>
          <a:p>
            <a:endParaRPr lang="fr-CM"/>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964BABD-00CE-4233-B86A-DF8950FC160A}" type="slidenum">
              <a:rPr lang="fr-CM" smtClean="0"/>
              <a:t>‹N°›</a:t>
            </a:fld>
            <a:endParaRPr lang="fr-CM"/>
          </a:p>
        </p:txBody>
      </p:sp>
    </p:spTree>
    <p:extLst>
      <p:ext uri="{BB962C8B-B14F-4D97-AF65-F5344CB8AC3E}">
        <p14:creationId xmlns:p14="http://schemas.microsoft.com/office/powerpoint/2010/main" val="1590807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smtClean="0"/>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1F9170C5-1B0F-472B-84D6-E5E044E77050}" type="datetimeFigureOut">
              <a:rPr lang="fr-CM" smtClean="0"/>
              <a:t>04/10/2026</a:t>
            </a:fld>
            <a:endParaRPr lang="fr-CM"/>
          </a:p>
        </p:txBody>
      </p:sp>
      <p:sp>
        <p:nvSpPr>
          <p:cNvPr id="5" name="Footer Placeholder 4"/>
          <p:cNvSpPr>
            <a:spLocks noGrp="1"/>
          </p:cNvSpPr>
          <p:nvPr>
            <p:ph type="ftr" sz="quarter" idx="11"/>
          </p:nvPr>
        </p:nvSpPr>
        <p:spPr/>
        <p:txBody>
          <a:bodyPr/>
          <a:lstStyle/>
          <a:p>
            <a:endParaRPr lang="fr-CM"/>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964BABD-00CE-4233-B86A-DF8950FC160A}" type="slidenum">
              <a:rPr lang="fr-CM" smtClean="0"/>
              <a:t>‹N°›</a:t>
            </a:fld>
            <a:endParaRPr lang="fr-CM"/>
          </a:p>
        </p:txBody>
      </p:sp>
    </p:spTree>
    <p:extLst>
      <p:ext uri="{BB962C8B-B14F-4D97-AF65-F5344CB8AC3E}">
        <p14:creationId xmlns:p14="http://schemas.microsoft.com/office/powerpoint/2010/main" val="3017313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1F9170C5-1B0F-472B-84D6-E5E044E77050}" type="datetimeFigureOut">
              <a:rPr lang="fr-CM" smtClean="0"/>
              <a:t>04/10/2026</a:t>
            </a:fld>
            <a:endParaRPr lang="fr-CM"/>
          </a:p>
        </p:txBody>
      </p:sp>
      <p:sp>
        <p:nvSpPr>
          <p:cNvPr id="5" name="Footer Placeholder 4"/>
          <p:cNvSpPr>
            <a:spLocks noGrp="1"/>
          </p:cNvSpPr>
          <p:nvPr>
            <p:ph type="ftr" sz="quarter" idx="11"/>
          </p:nvPr>
        </p:nvSpPr>
        <p:spPr/>
        <p:txBody>
          <a:bodyPr/>
          <a:lstStyle/>
          <a:p>
            <a:endParaRPr lang="fr-CM"/>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964BABD-00CE-4233-B86A-DF8950FC160A}" type="slidenum">
              <a:rPr lang="fr-CM" smtClean="0"/>
              <a:t>‹N°›</a:t>
            </a:fld>
            <a:endParaRPr lang="fr-CM"/>
          </a:p>
        </p:txBody>
      </p:sp>
    </p:spTree>
    <p:extLst>
      <p:ext uri="{BB962C8B-B14F-4D97-AF65-F5344CB8AC3E}">
        <p14:creationId xmlns:p14="http://schemas.microsoft.com/office/powerpoint/2010/main" val="167132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1F9170C5-1B0F-472B-84D6-E5E044E77050}" type="datetimeFigureOut">
              <a:rPr lang="fr-CM" smtClean="0"/>
              <a:t>04/10/2026</a:t>
            </a:fld>
            <a:endParaRPr lang="fr-CM"/>
          </a:p>
        </p:txBody>
      </p:sp>
      <p:sp>
        <p:nvSpPr>
          <p:cNvPr id="6" name="Footer Placeholder 5"/>
          <p:cNvSpPr>
            <a:spLocks noGrp="1"/>
          </p:cNvSpPr>
          <p:nvPr>
            <p:ph type="ftr" sz="quarter" idx="11"/>
          </p:nvPr>
        </p:nvSpPr>
        <p:spPr/>
        <p:txBody>
          <a:bodyPr/>
          <a:lstStyle/>
          <a:p>
            <a:endParaRPr lang="fr-CM"/>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964BABD-00CE-4233-B86A-DF8950FC160A}" type="slidenum">
              <a:rPr lang="fr-CM" smtClean="0"/>
              <a:t>‹N°›</a:t>
            </a:fld>
            <a:endParaRPr lang="fr-CM"/>
          </a:p>
        </p:txBody>
      </p:sp>
    </p:spTree>
    <p:extLst>
      <p:ext uri="{BB962C8B-B14F-4D97-AF65-F5344CB8AC3E}">
        <p14:creationId xmlns:p14="http://schemas.microsoft.com/office/powerpoint/2010/main" val="11126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smtClean="0"/>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1F9170C5-1B0F-472B-84D6-E5E044E77050}" type="datetimeFigureOut">
              <a:rPr lang="fr-CM" smtClean="0"/>
              <a:t>04/10/2026</a:t>
            </a:fld>
            <a:endParaRPr lang="fr-CM"/>
          </a:p>
        </p:txBody>
      </p:sp>
      <p:sp>
        <p:nvSpPr>
          <p:cNvPr id="8" name="Footer Placeholder 7"/>
          <p:cNvSpPr>
            <a:spLocks noGrp="1"/>
          </p:cNvSpPr>
          <p:nvPr>
            <p:ph type="ftr" sz="quarter" idx="11"/>
          </p:nvPr>
        </p:nvSpPr>
        <p:spPr/>
        <p:txBody>
          <a:bodyPr/>
          <a:lstStyle/>
          <a:p>
            <a:endParaRPr lang="fr-CM"/>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964BABD-00CE-4233-B86A-DF8950FC160A}" type="slidenum">
              <a:rPr lang="fr-CM" smtClean="0"/>
              <a:t>‹N°›</a:t>
            </a:fld>
            <a:endParaRPr lang="fr-CM"/>
          </a:p>
        </p:txBody>
      </p:sp>
    </p:spTree>
    <p:extLst>
      <p:ext uri="{BB962C8B-B14F-4D97-AF65-F5344CB8AC3E}">
        <p14:creationId xmlns:p14="http://schemas.microsoft.com/office/powerpoint/2010/main" val="824062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1F9170C5-1B0F-472B-84D6-E5E044E77050}" type="datetimeFigureOut">
              <a:rPr lang="fr-CM" smtClean="0"/>
              <a:t>04/10/2026</a:t>
            </a:fld>
            <a:endParaRPr lang="fr-CM"/>
          </a:p>
        </p:txBody>
      </p:sp>
      <p:sp>
        <p:nvSpPr>
          <p:cNvPr id="4" name="Footer Placeholder 3"/>
          <p:cNvSpPr>
            <a:spLocks noGrp="1"/>
          </p:cNvSpPr>
          <p:nvPr>
            <p:ph type="ftr" sz="quarter" idx="11"/>
          </p:nvPr>
        </p:nvSpPr>
        <p:spPr/>
        <p:txBody>
          <a:bodyPr/>
          <a:lstStyle/>
          <a:p>
            <a:endParaRPr lang="fr-CM"/>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964BABD-00CE-4233-B86A-DF8950FC160A}" type="slidenum">
              <a:rPr lang="fr-CM" smtClean="0"/>
              <a:t>‹N°›</a:t>
            </a:fld>
            <a:endParaRPr lang="fr-CM"/>
          </a:p>
        </p:txBody>
      </p:sp>
    </p:spTree>
    <p:extLst>
      <p:ext uri="{BB962C8B-B14F-4D97-AF65-F5344CB8AC3E}">
        <p14:creationId xmlns:p14="http://schemas.microsoft.com/office/powerpoint/2010/main" val="522569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9170C5-1B0F-472B-84D6-E5E044E77050}" type="datetimeFigureOut">
              <a:rPr lang="fr-CM" smtClean="0"/>
              <a:t>04/10/2026</a:t>
            </a:fld>
            <a:endParaRPr lang="fr-CM"/>
          </a:p>
        </p:txBody>
      </p:sp>
      <p:sp>
        <p:nvSpPr>
          <p:cNvPr id="3" name="Footer Placeholder 2"/>
          <p:cNvSpPr>
            <a:spLocks noGrp="1"/>
          </p:cNvSpPr>
          <p:nvPr>
            <p:ph type="ftr" sz="quarter" idx="11"/>
          </p:nvPr>
        </p:nvSpPr>
        <p:spPr/>
        <p:txBody>
          <a:bodyPr/>
          <a:lstStyle/>
          <a:p>
            <a:endParaRPr lang="fr-CM"/>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964BABD-00CE-4233-B86A-DF8950FC160A}" type="slidenum">
              <a:rPr lang="fr-CM" smtClean="0"/>
              <a:t>‹N°›</a:t>
            </a:fld>
            <a:endParaRPr lang="fr-CM"/>
          </a:p>
        </p:txBody>
      </p:sp>
    </p:spTree>
    <p:extLst>
      <p:ext uri="{BB962C8B-B14F-4D97-AF65-F5344CB8AC3E}">
        <p14:creationId xmlns:p14="http://schemas.microsoft.com/office/powerpoint/2010/main" val="1854969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smtClean="0"/>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1F9170C5-1B0F-472B-84D6-E5E044E77050}" type="datetimeFigureOut">
              <a:rPr lang="fr-CM" smtClean="0"/>
              <a:t>04/10/2026</a:t>
            </a:fld>
            <a:endParaRPr lang="fr-CM"/>
          </a:p>
        </p:txBody>
      </p:sp>
      <p:sp>
        <p:nvSpPr>
          <p:cNvPr id="6" name="Footer Placeholder 5"/>
          <p:cNvSpPr>
            <a:spLocks noGrp="1"/>
          </p:cNvSpPr>
          <p:nvPr>
            <p:ph type="ftr" sz="quarter" idx="11"/>
          </p:nvPr>
        </p:nvSpPr>
        <p:spPr/>
        <p:txBody>
          <a:bodyPr/>
          <a:lstStyle/>
          <a:p>
            <a:endParaRPr lang="fr-CM"/>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964BABD-00CE-4233-B86A-DF8950FC160A}" type="slidenum">
              <a:rPr lang="fr-CM" smtClean="0"/>
              <a:t>‹N°›</a:t>
            </a:fld>
            <a:endParaRPr lang="fr-CM"/>
          </a:p>
        </p:txBody>
      </p:sp>
    </p:spTree>
    <p:extLst>
      <p:ext uri="{BB962C8B-B14F-4D97-AF65-F5344CB8AC3E}">
        <p14:creationId xmlns:p14="http://schemas.microsoft.com/office/powerpoint/2010/main" val="2466639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1F9170C5-1B0F-472B-84D6-E5E044E77050}" type="datetimeFigureOut">
              <a:rPr lang="fr-CM" smtClean="0"/>
              <a:t>04/10/2026</a:t>
            </a:fld>
            <a:endParaRPr lang="fr-CM"/>
          </a:p>
        </p:txBody>
      </p:sp>
      <p:sp>
        <p:nvSpPr>
          <p:cNvPr id="6" name="Footer Placeholder 5"/>
          <p:cNvSpPr>
            <a:spLocks noGrp="1"/>
          </p:cNvSpPr>
          <p:nvPr>
            <p:ph type="ftr" sz="quarter" idx="11"/>
          </p:nvPr>
        </p:nvSpPr>
        <p:spPr/>
        <p:txBody>
          <a:bodyPr/>
          <a:lstStyle/>
          <a:p>
            <a:endParaRPr lang="fr-CM"/>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964BABD-00CE-4233-B86A-DF8950FC160A}" type="slidenum">
              <a:rPr lang="fr-CM" smtClean="0"/>
              <a:t>‹N°›</a:t>
            </a:fld>
            <a:endParaRPr lang="fr-CM"/>
          </a:p>
        </p:txBody>
      </p:sp>
    </p:spTree>
    <p:extLst>
      <p:ext uri="{BB962C8B-B14F-4D97-AF65-F5344CB8AC3E}">
        <p14:creationId xmlns:p14="http://schemas.microsoft.com/office/powerpoint/2010/main" val="1536177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smtClean="0"/>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1F9170C5-1B0F-472B-84D6-E5E044E77050}" type="datetimeFigureOut">
              <a:rPr lang="fr-CM" smtClean="0"/>
              <a:t>04/10/2026</a:t>
            </a:fld>
            <a:endParaRPr lang="fr-CM"/>
          </a:p>
        </p:txBody>
      </p:sp>
      <p:sp>
        <p:nvSpPr>
          <p:cNvPr id="5" name="Footer Placeholder 4"/>
          <p:cNvSpPr>
            <a:spLocks noGrp="1"/>
          </p:cNvSpPr>
          <p:nvPr>
            <p:ph type="ftr" sz="quarter" idx="11"/>
          </p:nvPr>
        </p:nvSpPr>
        <p:spPr/>
        <p:txBody>
          <a:bodyPr/>
          <a:lstStyle/>
          <a:p>
            <a:endParaRPr lang="fr-CM"/>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964BABD-00CE-4233-B86A-DF8950FC160A}" type="slidenum">
              <a:rPr lang="fr-CM" smtClean="0"/>
              <a:t>‹N°›</a:t>
            </a:fld>
            <a:endParaRPr lang="fr-CM"/>
          </a:p>
        </p:txBody>
      </p:sp>
    </p:spTree>
    <p:extLst>
      <p:ext uri="{BB962C8B-B14F-4D97-AF65-F5344CB8AC3E}">
        <p14:creationId xmlns:p14="http://schemas.microsoft.com/office/powerpoint/2010/main" val="3672016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smtClean="0"/>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1F9170C5-1B0F-472B-84D6-E5E044E77050}" type="datetimeFigureOut">
              <a:rPr lang="fr-CM" smtClean="0"/>
              <a:t>04/10/2026</a:t>
            </a:fld>
            <a:endParaRPr lang="fr-CM"/>
          </a:p>
        </p:txBody>
      </p:sp>
      <p:sp>
        <p:nvSpPr>
          <p:cNvPr id="5" name="Footer Placeholder 4"/>
          <p:cNvSpPr>
            <a:spLocks noGrp="1"/>
          </p:cNvSpPr>
          <p:nvPr>
            <p:ph type="ftr" sz="quarter" idx="11"/>
          </p:nvPr>
        </p:nvSpPr>
        <p:spPr/>
        <p:txBody>
          <a:bodyPr/>
          <a:lstStyle/>
          <a:p>
            <a:endParaRPr lang="fr-CM"/>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964BABD-00CE-4233-B86A-DF8950FC160A}" type="slidenum">
              <a:rPr lang="fr-CM" smtClean="0"/>
              <a:t>‹N°›</a:t>
            </a:fld>
            <a:endParaRPr lang="fr-CM"/>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68704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smtClean="0"/>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smtClean="0"/>
              <a:t>Modifier les styles du texte du masque</a:t>
            </a:r>
          </a:p>
        </p:txBody>
      </p:sp>
      <p:sp>
        <p:nvSpPr>
          <p:cNvPr id="5" name="Date Placeholder 4"/>
          <p:cNvSpPr>
            <a:spLocks noGrp="1"/>
          </p:cNvSpPr>
          <p:nvPr>
            <p:ph type="dt" sz="half" idx="10"/>
          </p:nvPr>
        </p:nvSpPr>
        <p:spPr/>
        <p:txBody>
          <a:bodyPr/>
          <a:lstStyle/>
          <a:p>
            <a:fld id="{1F9170C5-1B0F-472B-84D6-E5E044E77050}" type="datetimeFigureOut">
              <a:rPr lang="fr-CM" smtClean="0"/>
              <a:t>04/10/2026</a:t>
            </a:fld>
            <a:endParaRPr lang="fr-CM"/>
          </a:p>
        </p:txBody>
      </p:sp>
      <p:sp>
        <p:nvSpPr>
          <p:cNvPr id="6" name="Footer Placeholder 5"/>
          <p:cNvSpPr>
            <a:spLocks noGrp="1"/>
          </p:cNvSpPr>
          <p:nvPr>
            <p:ph type="ftr" sz="quarter" idx="11"/>
          </p:nvPr>
        </p:nvSpPr>
        <p:spPr/>
        <p:txBody>
          <a:bodyPr/>
          <a:lstStyle/>
          <a:p>
            <a:endParaRPr lang="fr-CM"/>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964BABD-00CE-4233-B86A-DF8950FC160A}" type="slidenum">
              <a:rPr lang="fr-CM" smtClean="0"/>
              <a:t>‹N°›</a:t>
            </a:fld>
            <a:endParaRPr lang="fr-CM"/>
          </a:p>
        </p:txBody>
      </p:sp>
    </p:spTree>
    <p:extLst>
      <p:ext uri="{BB962C8B-B14F-4D97-AF65-F5344CB8AC3E}">
        <p14:creationId xmlns:p14="http://schemas.microsoft.com/office/powerpoint/2010/main" val="10702316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smtClean="0"/>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smtClean="0"/>
              <a:t>Modifier les styles du texte du masque</a:t>
            </a:r>
          </a:p>
        </p:txBody>
      </p:sp>
      <p:sp>
        <p:nvSpPr>
          <p:cNvPr id="5" name="Date Placeholder 4"/>
          <p:cNvSpPr>
            <a:spLocks noGrp="1"/>
          </p:cNvSpPr>
          <p:nvPr>
            <p:ph type="dt" sz="half" idx="10"/>
          </p:nvPr>
        </p:nvSpPr>
        <p:spPr/>
        <p:txBody>
          <a:bodyPr/>
          <a:lstStyle/>
          <a:p>
            <a:fld id="{1F9170C5-1B0F-472B-84D6-E5E044E77050}" type="datetimeFigureOut">
              <a:rPr lang="fr-CM" smtClean="0"/>
              <a:t>04/10/2026</a:t>
            </a:fld>
            <a:endParaRPr lang="fr-CM"/>
          </a:p>
        </p:txBody>
      </p:sp>
      <p:sp>
        <p:nvSpPr>
          <p:cNvPr id="6" name="Footer Placeholder 5"/>
          <p:cNvSpPr>
            <a:spLocks noGrp="1"/>
          </p:cNvSpPr>
          <p:nvPr>
            <p:ph type="ftr" sz="quarter" idx="11"/>
          </p:nvPr>
        </p:nvSpPr>
        <p:spPr/>
        <p:txBody>
          <a:bodyPr/>
          <a:lstStyle/>
          <a:p>
            <a:endParaRPr lang="fr-CM"/>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964BABD-00CE-4233-B86A-DF8950FC160A}" type="slidenum">
              <a:rPr lang="fr-CM" smtClean="0"/>
              <a:t>‹N°›</a:t>
            </a:fld>
            <a:endParaRPr lang="fr-CM"/>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940457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smtClean="0"/>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smtClean="0"/>
              <a:t>Modifier les styles du texte du masque</a:t>
            </a:r>
          </a:p>
        </p:txBody>
      </p:sp>
      <p:sp>
        <p:nvSpPr>
          <p:cNvPr id="5" name="Date Placeholder 4"/>
          <p:cNvSpPr>
            <a:spLocks noGrp="1"/>
          </p:cNvSpPr>
          <p:nvPr>
            <p:ph type="dt" sz="half" idx="10"/>
          </p:nvPr>
        </p:nvSpPr>
        <p:spPr/>
        <p:txBody>
          <a:bodyPr/>
          <a:lstStyle/>
          <a:p>
            <a:fld id="{1F9170C5-1B0F-472B-84D6-E5E044E77050}" type="datetimeFigureOut">
              <a:rPr lang="fr-CM" smtClean="0"/>
              <a:t>04/10/2026</a:t>
            </a:fld>
            <a:endParaRPr lang="fr-CM"/>
          </a:p>
        </p:txBody>
      </p:sp>
      <p:sp>
        <p:nvSpPr>
          <p:cNvPr id="6" name="Footer Placeholder 5"/>
          <p:cNvSpPr>
            <a:spLocks noGrp="1"/>
          </p:cNvSpPr>
          <p:nvPr>
            <p:ph type="ftr" sz="quarter" idx="11"/>
          </p:nvPr>
        </p:nvSpPr>
        <p:spPr/>
        <p:txBody>
          <a:bodyPr/>
          <a:lstStyle/>
          <a:p>
            <a:endParaRPr lang="fr-CM"/>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964BABD-00CE-4233-B86A-DF8950FC160A}" type="slidenum">
              <a:rPr lang="fr-CM" smtClean="0"/>
              <a:t>‹N°›</a:t>
            </a:fld>
            <a:endParaRPr lang="fr-CM"/>
          </a:p>
        </p:txBody>
      </p:sp>
    </p:spTree>
    <p:extLst>
      <p:ext uri="{BB962C8B-B14F-4D97-AF65-F5344CB8AC3E}">
        <p14:creationId xmlns:p14="http://schemas.microsoft.com/office/powerpoint/2010/main" val="1985952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1F9170C5-1B0F-472B-84D6-E5E044E77050}" type="datetimeFigureOut">
              <a:rPr lang="fr-CM" smtClean="0"/>
              <a:t>04/10/2026</a:t>
            </a:fld>
            <a:endParaRPr lang="fr-CM"/>
          </a:p>
        </p:txBody>
      </p:sp>
      <p:sp>
        <p:nvSpPr>
          <p:cNvPr id="5" name="Footer Placeholder 4"/>
          <p:cNvSpPr>
            <a:spLocks noGrp="1"/>
          </p:cNvSpPr>
          <p:nvPr>
            <p:ph type="ftr" sz="quarter" idx="11"/>
          </p:nvPr>
        </p:nvSpPr>
        <p:spPr/>
        <p:txBody>
          <a:bodyPr/>
          <a:lstStyle/>
          <a:p>
            <a:endParaRPr lang="fr-CM"/>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964BABD-00CE-4233-B86A-DF8950FC160A}" type="slidenum">
              <a:rPr lang="fr-CM" smtClean="0"/>
              <a:t>‹N°›</a:t>
            </a:fld>
            <a:endParaRPr lang="fr-CM"/>
          </a:p>
        </p:txBody>
      </p:sp>
    </p:spTree>
    <p:extLst>
      <p:ext uri="{BB962C8B-B14F-4D97-AF65-F5344CB8AC3E}">
        <p14:creationId xmlns:p14="http://schemas.microsoft.com/office/powerpoint/2010/main" val="31202705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smtClean="0"/>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1F9170C5-1B0F-472B-84D6-E5E044E77050}" type="datetimeFigureOut">
              <a:rPr lang="fr-CM" smtClean="0"/>
              <a:t>04/10/2026</a:t>
            </a:fld>
            <a:endParaRPr lang="fr-CM"/>
          </a:p>
        </p:txBody>
      </p:sp>
      <p:sp>
        <p:nvSpPr>
          <p:cNvPr id="5" name="Footer Placeholder 4"/>
          <p:cNvSpPr>
            <a:spLocks noGrp="1"/>
          </p:cNvSpPr>
          <p:nvPr>
            <p:ph type="ftr" sz="quarter" idx="11"/>
          </p:nvPr>
        </p:nvSpPr>
        <p:spPr/>
        <p:txBody>
          <a:bodyPr/>
          <a:lstStyle/>
          <a:p>
            <a:endParaRPr lang="fr-CM"/>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964BABD-00CE-4233-B86A-DF8950FC160A}" type="slidenum">
              <a:rPr lang="fr-CM" smtClean="0"/>
              <a:t>‹N°›</a:t>
            </a:fld>
            <a:endParaRPr lang="fr-CM"/>
          </a:p>
        </p:txBody>
      </p:sp>
    </p:spTree>
    <p:extLst>
      <p:ext uri="{BB962C8B-B14F-4D97-AF65-F5344CB8AC3E}">
        <p14:creationId xmlns:p14="http://schemas.microsoft.com/office/powerpoint/2010/main" val="901677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smtClean="0"/>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F9170C5-1B0F-472B-84D6-E5E044E77050}" type="datetimeFigureOut">
              <a:rPr lang="fr-CM" smtClean="0"/>
              <a:t>04/10/2026</a:t>
            </a:fld>
            <a:endParaRPr lang="fr-CM"/>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CM"/>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964BABD-00CE-4233-B86A-DF8950FC160A}" type="slidenum">
              <a:rPr lang="fr-CM" smtClean="0"/>
              <a:t>‹N°›</a:t>
            </a:fld>
            <a:endParaRPr lang="fr-CM"/>
          </a:p>
        </p:txBody>
      </p:sp>
    </p:spTree>
    <p:extLst>
      <p:ext uri="{BB962C8B-B14F-4D97-AF65-F5344CB8AC3E}">
        <p14:creationId xmlns:p14="http://schemas.microsoft.com/office/powerpoint/2010/main" val="357793143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311973" y="1019078"/>
            <a:ext cx="8825658" cy="1881140"/>
          </a:xfrm>
        </p:spPr>
        <p:txBody>
          <a:bodyPr anchor="ctr">
            <a:normAutofit/>
          </a:bodyPr>
          <a:lstStyle/>
          <a:p>
            <a:pPr algn="ctr"/>
            <a:r>
              <a:rPr lang="fr-FR" b="1" dirty="0">
                <a:latin typeface="Times New Roman" panose="02020603050405020304" pitchFamily="18" charset="0"/>
                <a:cs typeface="Times New Roman" panose="02020603050405020304" pitchFamily="18" charset="0"/>
              </a:rPr>
              <a:t>Module 2 </a:t>
            </a:r>
            <a:r>
              <a:rPr lang="fr-FR" b="1" dirty="0" smtClean="0">
                <a:latin typeface="Times New Roman" panose="02020603050405020304" pitchFamily="18" charset="0"/>
                <a:cs typeface="Times New Roman" panose="02020603050405020304" pitchFamily="18" charset="0"/>
              </a:rPr>
              <a:t>:</a:t>
            </a:r>
            <a:endParaRPr lang="fr-FR" dirty="0">
              <a:latin typeface="Times New Roman" panose="02020603050405020304" pitchFamily="18" charset="0"/>
              <a:cs typeface="Times New Roman" panose="02020603050405020304" pitchFamily="18" charset="0"/>
            </a:endParaRPr>
          </a:p>
        </p:txBody>
      </p:sp>
      <p:sp>
        <p:nvSpPr>
          <p:cNvPr id="3" name="Sous-titre 2"/>
          <p:cNvSpPr>
            <a:spLocks noGrp="1"/>
          </p:cNvSpPr>
          <p:nvPr>
            <p:ph type="subTitle" idx="1"/>
          </p:nvPr>
        </p:nvSpPr>
        <p:spPr>
          <a:xfrm>
            <a:off x="914400" y="3225656"/>
            <a:ext cx="10464800" cy="1655762"/>
          </a:xfrm>
        </p:spPr>
        <p:txBody>
          <a:bodyPr>
            <a:noAutofit/>
          </a:bodyPr>
          <a:lstStyle/>
          <a:p>
            <a:endParaRPr lang="fr-FR" sz="3600" b="1" dirty="0" smtClean="0">
              <a:latin typeface="Times New Roman" panose="02020603050405020304" pitchFamily="18" charset="0"/>
              <a:cs typeface="Times New Roman" panose="02020603050405020304" pitchFamily="18" charset="0"/>
            </a:endParaRPr>
          </a:p>
          <a:p>
            <a:pPr algn="ctr"/>
            <a:r>
              <a:rPr lang="fr-FR" sz="3600" b="1" dirty="0" smtClean="0">
                <a:latin typeface="Times New Roman" panose="02020603050405020304" pitchFamily="18" charset="0"/>
                <a:cs typeface="Times New Roman" panose="02020603050405020304" pitchFamily="18" charset="0"/>
              </a:rPr>
              <a:t>INGÉNIERIE PÉDAGOGIQUE ET DESIGN DE </a:t>
            </a:r>
            <a:r>
              <a:rPr lang="fr-FR" sz="3600" b="1" dirty="0" smtClean="0">
                <a:latin typeface="Times New Roman" panose="02020603050405020304" pitchFamily="18" charset="0"/>
                <a:cs typeface="Times New Roman" panose="02020603050405020304" pitchFamily="18" charset="0"/>
              </a:rPr>
              <a:t>CONTENU</a:t>
            </a:r>
            <a:endParaRPr lang="fr-CM"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85477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39983" y="344822"/>
            <a:ext cx="9601196" cy="1303867"/>
          </a:xfrm>
        </p:spPr>
        <p:txBody>
          <a:bodyPr>
            <a:normAutofit/>
          </a:bodyPr>
          <a:lstStyle/>
          <a:p>
            <a:pPr algn="ctr"/>
            <a:r>
              <a:rPr lang="fr-FR" b="1" dirty="0" smtClean="0">
                <a:latin typeface="Times New Roman" panose="02020603050405020304" pitchFamily="18" charset="0"/>
                <a:cs typeface="Times New Roman" panose="02020603050405020304" pitchFamily="18" charset="0"/>
              </a:rPr>
              <a:t>LES MODÈLES DE CONCEPTION PÉDAGOGIQUE</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480291" y="1648689"/>
            <a:ext cx="11249891" cy="4047069"/>
          </a:xfrm>
        </p:spPr>
        <p:txBody>
          <a:bodyPr>
            <a:noAutofit/>
          </a:bodyPr>
          <a:lstStyle/>
          <a:p>
            <a:pPr marL="0" indent="0" algn="just">
              <a:buNone/>
            </a:pPr>
            <a:r>
              <a:rPr lang="fr-FR" sz="2800" dirty="0" smtClean="0">
                <a:latin typeface="Times New Roman" panose="02020603050405020304" pitchFamily="18" charset="0"/>
                <a:cs typeface="Times New Roman" panose="02020603050405020304" pitchFamily="18" charset="0"/>
              </a:rPr>
              <a:t>	Il s’agit de cadres structurés, permettant aux usagers de planifier, créer et évaluer des formations efficaces</a:t>
            </a:r>
          </a:p>
          <a:p>
            <a:pPr marL="0" indent="0" algn="just">
              <a:buNone/>
            </a:pPr>
            <a:r>
              <a:rPr lang="fr-FR" sz="2800" dirty="0" smtClean="0">
                <a:latin typeface="Times New Roman" panose="02020603050405020304" pitchFamily="18" charset="0"/>
                <a:cs typeface="Times New Roman" panose="02020603050405020304" pitchFamily="18" charset="0"/>
              </a:rPr>
              <a:t>	Il en existe une multitude dont les principaux sont:</a:t>
            </a:r>
          </a:p>
          <a:p>
            <a:pPr algn="just">
              <a:buFontTx/>
              <a:buChar char="-"/>
            </a:pPr>
            <a:r>
              <a:rPr lang="fr-CM" sz="2800" dirty="0" smtClean="0">
                <a:latin typeface="Times New Roman" panose="02020603050405020304" pitchFamily="18" charset="0"/>
                <a:cs typeface="Times New Roman" panose="02020603050405020304" pitchFamily="18" charset="0"/>
              </a:rPr>
              <a:t>ADDIE</a:t>
            </a:r>
          </a:p>
          <a:p>
            <a:pPr algn="just">
              <a:buFontTx/>
              <a:buChar char="-"/>
            </a:pPr>
            <a:r>
              <a:rPr lang="fr-FR" sz="2800" dirty="0" smtClean="0">
                <a:latin typeface="Times New Roman" panose="02020603050405020304" pitchFamily="18" charset="0"/>
                <a:cs typeface="Times New Roman" panose="02020603050405020304" pitchFamily="18" charset="0"/>
              </a:rPr>
              <a:t>Les principes de Merrill</a:t>
            </a:r>
          </a:p>
          <a:p>
            <a:pPr algn="just">
              <a:buFontTx/>
              <a:buChar char="-"/>
            </a:pPr>
            <a:r>
              <a:rPr lang="fr-FR" sz="2800" dirty="0" smtClean="0">
                <a:latin typeface="Times New Roman" panose="02020603050405020304" pitchFamily="18" charset="0"/>
                <a:cs typeface="Times New Roman" panose="02020603050405020304" pitchFamily="18" charset="0"/>
              </a:rPr>
              <a:t>La taxonomie de Bloom</a:t>
            </a:r>
          </a:p>
          <a:p>
            <a:pPr algn="just">
              <a:buFontTx/>
              <a:buChar char="-"/>
            </a:pPr>
            <a:r>
              <a:rPr lang="fr-FR" sz="2800" dirty="0" smtClean="0">
                <a:latin typeface="Times New Roman" panose="02020603050405020304" pitchFamily="18" charset="0"/>
                <a:cs typeface="Times New Roman" panose="02020603050405020304" pitchFamily="18" charset="0"/>
              </a:rPr>
              <a:t>SAM</a:t>
            </a:r>
          </a:p>
          <a:p>
            <a:pPr algn="just">
              <a:buFontTx/>
              <a:buChar char="-"/>
            </a:pPr>
            <a:r>
              <a:rPr lang="fr-FR" sz="2800" dirty="0" smtClean="0">
                <a:latin typeface="Times New Roman" panose="02020603050405020304" pitchFamily="18" charset="0"/>
                <a:cs typeface="Times New Roman" panose="02020603050405020304" pitchFamily="18" charset="0"/>
              </a:rPr>
              <a:t>Le modèle de KEMP</a:t>
            </a:r>
          </a:p>
          <a:p>
            <a:pPr algn="just">
              <a:buFontTx/>
              <a:buChar char="-"/>
            </a:pPr>
            <a:r>
              <a:rPr lang="fr-FR" sz="2800" dirty="0" smtClean="0">
                <a:latin typeface="Times New Roman" panose="02020603050405020304" pitchFamily="18" charset="0"/>
                <a:cs typeface="Times New Roman" panose="02020603050405020304" pitchFamily="18" charset="0"/>
              </a:rPr>
              <a:t>Le modèle de Dick et Carey</a:t>
            </a:r>
            <a:endParaRPr lang="fr-CM"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23545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6073" y="624110"/>
            <a:ext cx="10978139" cy="1280890"/>
          </a:xfrm>
        </p:spPr>
        <p:txBody>
          <a:bodyPr>
            <a:normAutofit/>
          </a:bodyPr>
          <a:lstStyle/>
          <a:p>
            <a:pPr algn="ctr"/>
            <a:r>
              <a:rPr lang="fr-FR" b="1" dirty="0" smtClean="0">
                <a:latin typeface="Times New Roman" panose="02020603050405020304" pitchFamily="18" charset="0"/>
                <a:cs typeface="Times New Roman" panose="02020603050405020304" pitchFamily="18" charset="0"/>
              </a:rPr>
              <a:t>ETUDE DE TROIS MODELES DE CONCEPTION PEDAGOGIQUE</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526473" y="1905000"/>
            <a:ext cx="11055927" cy="4114800"/>
          </a:xfrm>
        </p:spPr>
        <p:txBody>
          <a:bodyPr>
            <a:noAutofit/>
          </a:bodyPr>
          <a:lstStyle/>
          <a:p>
            <a:pPr marL="0" indent="0" algn="just">
              <a:buNone/>
            </a:pPr>
            <a:r>
              <a:rPr lang="fr-FR" sz="2800" b="1" dirty="0" smtClean="0">
                <a:latin typeface="Times New Roman" panose="02020603050405020304" pitchFamily="18" charset="0"/>
                <a:cs typeface="Times New Roman" panose="02020603050405020304" pitchFamily="18" charset="0"/>
              </a:rPr>
              <a:t>1- LE MODELE ADDIE</a:t>
            </a:r>
          </a:p>
          <a:p>
            <a:pPr marL="0" indent="0" algn="just">
              <a:buNone/>
            </a:pPr>
            <a:r>
              <a:rPr lang="fr-FR" sz="2800" dirty="0" smtClean="0">
                <a:latin typeface="Times New Roman" panose="02020603050405020304" pitchFamily="18" charset="0"/>
                <a:cs typeface="Times New Roman" panose="02020603050405020304" pitchFamily="18" charset="0"/>
              </a:rPr>
              <a:t>	C’est un cadre de référence en ingénierie pédagogique qui structure la conception de formations en cinq phases clés : </a:t>
            </a:r>
          </a:p>
          <a:p>
            <a:pPr algn="just">
              <a:buFontTx/>
              <a:buChar char="-"/>
            </a:pPr>
            <a:r>
              <a:rPr lang="fr-FR" sz="2800" b="1" dirty="0" smtClean="0">
                <a:latin typeface="Times New Roman" panose="02020603050405020304" pitchFamily="18" charset="0"/>
                <a:cs typeface="Times New Roman" panose="02020603050405020304" pitchFamily="18" charset="0"/>
              </a:rPr>
              <a:t>A</a:t>
            </a:r>
            <a:r>
              <a:rPr lang="fr-FR" sz="2800" dirty="0" smtClean="0">
                <a:latin typeface="Times New Roman" panose="02020603050405020304" pitchFamily="18" charset="0"/>
                <a:cs typeface="Times New Roman" panose="02020603050405020304" pitchFamily="18" charset="0"/>
              </a:rPr>
              <a:t>nalyse</a:t>
            </a:r>
            <a:r>
              <a:rPr lang="fr-FR" sz="2800" dirty="0">
                <a:latin typeface="Times New Roman" panose="02020603050405020304" pitchFamily="18" charset="0"/>
                <a:cs typeface="Times New Roman" panose="02020603050405020304" pitchFamily="18" charset="0"/>
              </a:rPr>
              <a:t>, </a:t>
            </a:r>
            <a:endParaRPr lang="fr-FR" sz="2800" dirty="0" smtClean="0">
              <a:latin typeface="Times New Roman" panose="02020603050405020304" pitchFamily="18" charset="0"/>
              <a:cs typeface="Times New Roman" panose="02020603050405020304" pitchFamily="18" charset="0"/>
            </a:endParaRPr>
          </a:p>
          <a:p>
            <a:pPr algn="just">
              <a:buFontTx/>
              <a:buChar char="-"/>
            </a:pPr>
            <a:r>
              <a:rPr lang="fr-FR" sz="2800" b="1" dirty="0" smtClean="0">
                <a:latin typeface="Times New Roman" panose="02020603050405020304" pitchFamily="18" charset="0"/>
                <a:cs typeface="Times New Roman" panose="02020603050405020304" pitchFamily="18" charset="0"/>
              </a:rPr>
              <a:t>D</a:t>
            </a:r>
            <a:r>
              <a:rPr lang="fr-FR" sz="2800" dirty="0" smtClean="0">
                <a:latin typeface="Times New Roman" panose="02020603050405020304" pitchFamily="18" charset="0"/>
                <a:cs typeface="Times New Roman" panose="02020603050405020304" pitchFamily="18" charset="0"/>
              </a:rPr>
              <a:t>esign</a:t>
            </a:r>
            <a:r>
              <a:rPr lang="fr-FR" sz="2800" dirty="0">
                <a:latin typeface="Times New Roman" panose="02020603050405020304" pitchFamily="18" charset="0"/>
                <a:cs typeface="Times New Roman" panose="02020603050405020304" pitchFamily="18" charset="0"/>
              </a:rPr>
              <a:t>, </a:t>
            </a:r>
            <a:endParaRPr lang="fr-FR" sz="2800" dirty="0" smtClean="0">
              <a:latin typeface="Times New Roman" panose="02020603050405020304" pitchFamily="18" charset="0"/>
              <a:cs typeface="Times New Roman" panose="02020603050405020304" pitchFamily="18" charset="0"/>
            </a:endParaRPr>
          </a:p>
          <a:p>
            <a:pPr algn="just">
              <a:buFontTx/>
              <a:buChar char="-"/>
            </a:pPr>
            <a:r>
              <a:rPr lang="fr-FR" sz="2800" b="1" dirty="0" smtClean="0">
                <a:latin typeface="Times New Roman" panose="02020603050405020304" pitchFamily="18" charset="0"/>
                <a:cs typeface="Times New Roman" panose="02020603050405020304" pitchFamily="18" charset="0"/>
              </a:rPr>
              <a:t>D</a:t>
            </a:r>
            <a:r>
              <a:rPr lang="fr-FR" sz="2800" dirty="0" smtClean="0">
                <a:latin typeface="Times New Roman" panose="02020603050405020304" pitchFamily="18" charset="0"/>
                <a:cs typeface="Times New Roman" panose="02020603050405020304" pitchFamily="18" charset="0"/>
              </a:rPr>
              <a:t>éveloppement</a:t>
            </a:r>
            <a:r>
              <a:rPr lang="fr-FR" sz="2800" dirty="0">
                <a:latin typeface="Times New Roman" panose="02020603050405020304" pitchFamily="18" charset="0"/>
                <a:cs typeface="Times New Roman" panose="02020603050405020304" pitchFamily="18" charset="0"/>
              </a:rPr>
              <a:t>, </a:t>
            </a:r>
            <a:endParaRPr lang="fr-FR" sz="2800" dirty="0" smtClean="0">
              <a:latin typeface="Times New Roman" panose="02020603050405020304" pitchFamily="18" charset="0"/>
              <a:cs typeface="Times New Roman" panose="02020603050405020304" pitchFamily="18" charset="0"/>
            </a:endParaRPr>
          </a:p>
          <a:p>
            <a:pPr algn="just">
              <a:buFontTx/>
              <a:buChar char="-"/>
            </a:pPr>
            <a:r>
              <a:rPr lang="fr-FR" sz="2800" b="1" dirty="0" smtClean="0">
                <a:latin typeface="Times New Roman" panose="02020603050405020304" pitchFamily="18" charset="0"/>
                <a:cs typeface="Times New Roman" panose="02020603050405020304" pitchFamily="18" charset="0"/>
              </a:rPr>
              <a:t>I</a:t>
            </a:r>
            <a:r>
              <a:rPr lang="fr-FR" sz="2800" dirty="0" smtClean="0">
                <a:latin typeface="Times New Roman" panose="02020603050405020304" pitchFamily="18" charset="0"/>
                <a:cs typeface="Times New Roman" panose="02020603050405020304" pitchFamily="18" charset="0"/>
              </a:rPr>
              <a:t>mplémentation </a:t>
            </a:r>
          </a:p>
          <a:p>
            <a:pPr algn="just">
              <a:buFontTx/>
              <a:buChar char="-"/>
            </a:pPr>
            <a:r>
              <a:rPr lang="fr-FR" sz="2800" b="1" dirty="0" smtClean="0">
                <a:latin typeface="Times New Roman" panose="02020603050405020304" pitchFamily="18" charset="0"/>
                <a:cs typeface="Times New Roman" panose="02020603050405020304" pitchFamily="18" charset="0"/>
              </a:rPr>
              <a:t>E</a:t>
            </a:r>
            <a:r>
              <a:rPr lang="fr-FR" sz="2800" dirty="0" smtClean="0">
                <a:latin typeface="Times New Roman" panose="02020603050405020304" pitchFamily="18" charset="0"/>
                <a:cs typeface="Times New Roman" panose="02020603050405020304" pitchFamily="18" charset="0"/>
              </a:rPr>
              <a:t>valuation</a:t>
            </a:r>
            <a:endParaRPr lang="fr-CM"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84634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29673" y="624110"/>
            <a:ext cx="10774939" cy="1280890"/>
          </a:xfrm>
        </p:spPr>
        <p:txBody>
          <a:bodyPr/>
          <a:lstStyle/>
          <a:p>
            <a:pPr algn="ctr"/>
            <a:r>
              <a:rPr lang="fr-FR" b="1" dirty="0" smtClean="0">
                <a:latin typeface="Times New Roman" panose="02020603050405020304" pitchFamily="18" charset="0"/>
                <a:cs typeface="Times New Roman" panose="02020603050405020304" pitchFamily="18" charset="0"/>
              </a:rPr>
              <a:t>LES PHASES DU MODELE ADDIE</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452582" y="2603500"/>
            <a:ext cx="11092873" cy="3416300"/>
          </a:xfrm>
        </p:spPr>
        <p:txBody>
          <a:bodyPr>
            <a:noAutofit/>
          </a:bodyPr>
          <a:lstStyle/>
          <a:p>
            <a:pPr algn="just">
              <a:lnSpc>
                <a:spcPct val="150000"/>
              </a:lnSpc>
              <a:buFont typeface="Wingdings" panose="05000000000000000000" pitchFamily="2" charset="2"/>
              <a:buChar char="Ø"/>
            </a:pPr>
            <a:r>
              <a:rPr lang="fr-FR" sz="2800" b="1" u="sng" dirty="0" smtClean="0">
                <a:latin typeface="Times New Roman" panose="02020603050405020304" pitchFamily="18" charset="0"/>
                <a:cs typeface="Times New Roman" panose="02020603050405020304" pitchFamily="18" charset="0"/>
              </a:rPr>
              <a:t>La phase d’Analyse:</a:t>
            </a:r>
          </a:p>
          <a:p>
            <a:pPr marL="0" indent="0" algn="just">
              <a:lnSpc>
                <a:spcPct val="150000"/>
              </a:lnSpc>
              <a:buNone/>
            </a:pPr>
            <a:r>
              <a:rPr lang="fr-FR" sz="2800" dirty="0" smtClean="0">
                <a:latin typeface="Times New Roman" panose="02020603050405020304" pitchFamily="18" charset="0"/>
                <a:cs typeface="Times New Roman" panose="02020603050405020304" pitchFamily="18" charset="0"/>
              </a:rPr>
              <a:t>	Cette phase consiste essentiellement a:</a:t>
            </a:r>
          </a:p>
          <a:p>
            <a:pPr algn="just">
              <a:lnSpc>
                <a:spcPct val="150000"/>
              </a:lnSpc>
              <a:buFont typeface="Wingdings" panose="05000000000000000000" pitchFamily="2" charset="2"/>
              <a:buChar char="§"/>
            </a:pPr>
            <a:r>
              <a:rPr lang="fr-FR" sz="2800" dirty="0" smtClean="0">
                <a:latin typeface="Times New Roman" panose="02020603050405020304" pitchFamily="18" charset="0"/>
                <a:cs typeface="Times New Roman" panose="02020603050405020304" pitchFamily="18" charset="0"/>
              </a:rPr>
              <a:t>Définir </a:t>
            </a:r>
            <a:r>
              <a:rPr lang="fr-FR" sz="2800" dirty="0">
                <a:latin typeface="Times New Roman" panose="02020603050405020304" pitchFamily="18" charset="0"/>
                <a:cs typeface="Times New Roman" panose="02020603050405020304" pitchFamily="18" charset="0"/>
              </a:rPr>
              <a:t>les besoins de formation et identifier les </a:t>
            </a:r>
            <a:r>
              <a:rPr lang="fr-FR" sz="2800" dirty="0" smtClean="0">
                <a:latin typeface="Times New Roman" panose="02020603050405020304" pitchFamily="18" charset="0"/>
                <a:cs typeface="Times New Roman" panose="02020603050405020304" pitchFamily="18" charset="0"/>
              </a:rPr>
              <a:t>objectifs.</a:t>
            </a:r>
          </a:p>
          <a:p>
            <a:pPr algn="just">
              <a:lnSpc>
                <a:spcPct val="150000"/>
              </a:lnSpc>
              <a:buFont typeface="Wingdings" panose="05000000000000000000" pitchFamily="2" charset="2"/>
              <a:buChar char="§"/>
            </a:pPr>
            <a:r>
              <a:rPr lang="fr-FR" sz="2800" dirty="0" smtClean="0">
                <a:latin typeface="Times New Roman" panose="02020603050405020304" pitchFamily="18" charset="0"/>
                <a:cs typeface="Times New Roman" panose="02020603050405020304" pitchFamily="18" charset="0"/>
              </a:rPr>
              <a:t>Étudier </a:t>
            </a:r>
            <a:r>
              <a:rPr lang="fr-FR" sz="2800" dirty="0">
                <a:latin typeface="Times New Roman" panose="02020603050405020304" pitchFamily="18" charset="0"/>
                <a:cs typeface="Times New Roman" panose="02020603050405020304" pitchFamily="18" charset="0"/>
              </a:rPr>
              <a:t>le profil, </a:t>
            </a:r>
            <a:r>
              <a:rPr lang="fr-FR" sz="2800" dirty="0" smtClean="0">
                <a:latin typeface="Times New Roman" panose="02020603050405020304" pitchFamily="18" charset="0"/>
                <a:cs typeface="Times New Roman" panose="02020603050405020304" pitchFamily="18" charset="0"/>
              </a:rPr>
              <a:t>le </a:t>
            </a:r>
            <a:r>
              <a:rPr lang="fr-FR" sz="2800" dirty="0">
                <a:latin typeface="Times New Roman" panose="02020603050405020304" pitchFamily="18" charset="0"/>
                <a:cs typeface="Times New Roman" panose="02020603050405020304" pitchFamily="18" charset="0"/>
              </a:rPr>
              <a:t>contexte des </a:t>
            </a:r>
            <a:r>
              <a:rPr lang="fr-FR" sz="2800" dirty="0" smtClean="0">
                <a:latin typeface="Times New Roman" panose="02020603050405020304" pitchFamily="18" charset="0"/>
                <a:cs typeface="Times New Roman" panose="02020603050405020304" pitchFamily="18" charset="0"/>
              </a:rPr>
              <a:t>apprenants et leur niveau initial</a:t>
            </a:r>
          </a:p>
          <a:p>
            <a:pPr algn="just">
              <a:lnSpc>
                <a:spcPct val="150000"/>
              </a:lnSpc>
              <a:buFont typeface="Wingdings" panose="05000000000000000000" pitchFamily="2" charset="2"/>
              <a:buChar char="§"/>
            </a:pPr>
            <a:r>
              <a:rPr lang="fr-FR" sz="2800" dirty="0" smtClean="0">
                <a:latin typeface="Times New Roman" panose="02020603050405020304" pitchFamily="18" charset="0"/>
                <a:cs typeface="Times New Roman" panose="02020603050405020304" pitchFamily="18" charset="0"/>
              </a:rPr>
              <a:t>Analyser </a:t>
            </a:r>
            <a:r>
              <a:rPr lang="fr-FR" sz="2800" dirty="0">
                <a:latin typeface="Times New Roman" panose="02020603050405020304" pitchFamily="18" charset="0"/>
                <a:cs typeface="Times New Roman" panose="02020603050405020304" pitchFamily="18" charset="0"/>
              </a:rPr>
              <a:t>les contraintes </a:t>
            </a:r>
            <a:r>
              <a:rPr lang="fr-FR" sz="2800" dirty="0" smtClean="0">
                <a:latin typeface="Times New Roman" panose="02020603050405020304" pitchFamily="18" charset="0"/>
                <a:cs typeface="Times New Roman" panose="02020603050405020304" pitchFamily="18" charset="0"/>
              </a:rPr>
              <a:t>en termes de temps</a:t>
            </a:r>
            <a:r>
              <a:rPr lang="fr-FR" sz="2800" dirty="0">
                <a:latin typeface="Times New Roman" panose="02020603050405020304" pitchFamily="18" charset="0"/>
                <a:cs typeface="Times New Roman" panose="02020603050405020304" pitchFamily="18" charset="0"/>
              </a:rPr>
              <a:t>, </a:t>
            </a:r>
            <a:r>
              <a:rPr lang="fr-FR" sz="2800" dirty="0" smtClean="0">
                <a:latin typeface="Times New Roman" panose="02020603050405020304" pitchFamily="18" charset="0"/>
                <a:cs typeface="Times New Roman" panose="02020603050405020304" pitchFamily="18" charset="0"/>
              </a:rPr>
              <a:t>de matériel et de budget</a:t>
            </a:r>
            <a:endParaRPr lang="fr-F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56775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20801" y="624110"/>
            <a:ext cx="10183812" cy="1280890"/>
          </a:xfrm>
        </p:spPr>
        <p:txBody>
          <a:bodyPr/>
          <a:lstStyle/>
          <a:p>
            <a:pPr algn="ctr"/>
            <a:r>
              <a:rPr lang="fr-FR" b="1" dirty="0" smtClean="0">
                <a:latin typeface="Times New Roman" panose="02020603050405020304" pitchFamily="18" charset="0"/>
                <a:cs typeface="Times New Roman" panose="02020603050405020304" pitchFamily="18" charset="0"/>
              </a:rPr>
              <a:t>LES PHASES DU MODELE ADDIE</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394692"/>
            <a:ext cx="10515600" cy="5237018"/>
          </a:xfrm>
        </p:spPr>
        <p:txBody>
          <a:bodyPr>
            <a:normAutofit/>
          </a:bodyPr>
          <a:lstStyle/>
          <a:p>
            <a:pPr algn="just">
              <a:lnSpc>
                <a:spcPct val="150000"/>
              </a:lnSpc>
              <a:buFont typeface="Wingdings" panose="05000000000000000000" pitchFamily="2" charset="2"/>
              <a:buChar char="Ø"/>
            </a:pPr>
            <a:r>
              <a:rPr lang="fr-FR" sz="2800" b="1" u="sng" dirty="0" smtClean="0">
                <a:latin typeface="Times New Roman" panose="02020603050405020304" pitchFamily="18" charset="0"/>
                <a:cs typeface="Times New Roman" panose="02020603050405020304" pitchFamily="18" charset="0"/>
              </a:rPr>
              <a:t>La phase de Design (ou Conception):</a:t>
            </a:r>
          </a:p>
          <a:p>
            <a:pPr marL="0" indent="0" algn="just">
              <a:lnSpc>
                <a:spcPct val="150000"/>
              </a:lnSpc>
              <a:buNone/>
            </a:pPr>
            <a:r>
              <a:rPr lang="fr-FR" sz="2800" dirty="0" smtClean="0">
                <a:latin typeface="Times New Roman" panose="02020603050405020304" pitchFamily="18" charset="0"/>
                <a:cs typeface="Times New Roman" panose="02020603050405020304" pitchFamily="18" charset="0"/>
              </a:rPr>
              <a:t>	Cette phase permet: </a:t>
            </a:r>
          </a:p>
          <a:p>
            <a:pPr algn="just">
              <a:lnSpc>
                <a:spcPct val="150000"/>
              </a:lnSpc>
              <a:buFont typeface="Wingdings" panose="05000000000000000000" pitchFamily="2" charset="2"/>
              <a:buChar char="§"/>
            </a:pPr>
            <a:r>
              <a:rPr lang="fr-FR" sz="2800" dirty="0" smtClean="0">
                <a:latin typeface="Times New Roman" panose="02020603050405020304" pitchFamily="18" charset="0"/>
                <a:cs typeface="Times New Roman" panose="02020603050405020304" pitchFamily="18" charset="0"/>
              </a:rPr>
              <a:t>d’établir </a:t>
            </a:r>
            <a:r>
              <a:rPr lang="fr-FR" sz="2800" dirty="0">
                <a:latin typeface="Times New Roman" panose="02020603050405020304" pitchFamily="18" charset="0"/>
                <a:cs typeface="Times New Roman" panose="02020603050405020304" pitchFamily="18" charset="0"/>
              </a:rPr>
              <a:t>l'architecture pédagogique et la stratégie </a:t>
            </a:r>
            <a:r>
              <a:rPr lang="fr-FR" sz="2800" dirty="0" smtClean="0">
                <a:latin typeface="Times New Roman" panose="02020603050405020304" pitchFamily="18" charset="0"/>
                <a:cs typeface="Times New Roman" panose="02020603050405020304" pitchFamily="18" charset="0"/>
              </a:rPr>
              <a:t>d'apprentissage.</a:t>
            </a:r>
          </a:p>
          <a:p>
            <a:pPr algn="just">
              <a:lnSpc>
                <a:spcPct val="150000"/>
              </a:lnSpc>
              <a:buFont typeface="Wingdings" panose="05000000000000000000" pitchFamily="2" charset="2"/>
              <a:buChar char="§"/>
            </a:pPr>
            <a:r>
              <a:rPr lang="fr-FR" sz="2800" dirty="0" smtClean="0">
                <a:latin typeface="Times New Roman" panose="02020603050405020304" pitchFamily="18" charset="0"/>
                <a:cs typeface="Times New Roman" panose="02020603050405020304" pitchFamily="18" charset="0"/>
              </a:rPr>
              <a:t>Rédiger des </a:t>
            </a:r>
            <a:r>
              <a:rPr lang="fr-FR" sz="2800" dirty="0">
                <a:latin typeface="Times New Roman" panose="02020603050405020304" pitchFamily="18" charset="0"/>
                <a:cs typeface="Times New Roman" panose="02020603050405020304" pitchFamily="18" charset="0"/>
              </a:rPr>
              <a:t>objectifs pédagogiques </a:t>
            </a:r>
            <a:r>
              <a:rPr lang="fr-FR" sz="2800" dirty="0" smtClean="0">
                <a:latin typeface="Times New Roman" panose="02020603050405020304" pitchFamily="18" charset="0"/>
                <a:cs typeface="Times New Roman" panose="02020603050405020304" pitchFamily="18" charset="0"/>
              </a:rPr>
              <a:t>avec précision </a:t>
            </a:r>
            <a:r>
              <a:rPr lang="fr-FR" sz="2800" dirty="0">
                <a:latin typeface="Times New Roman" panose="02020603050405020304" pitchFamily="18" charset="0"/>
                <a:cs typeface="Times New Roman" panose="02020603050405020304" pitchFamily="18" charset="0"/>
              </a:rPr>
              <a:t>(souvent SMART</a:t>
            </a:r>
            <a:r>
              <a:rPr lang="fr-FR" sz="2800" dirty="0" smtClean="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
            </a:pPr>
            <a:r>
              <a:rPr lang="fr-FR" sz="2800" dirty="0" smtClean="0">
                <a:latin typeface="Times New Roman" panose="02020603050405020304" pitchFamily="18" charset="0"/>
                <a:cs typeface="Times New Roman" panose="02020603050405020304" pitchFamily="18" charset="0"/>
              </a:rPr>
              <a:t>Choisir </a:t>
            </a:r>
            <a:r>
              <a:rPr lang="fr-FR" sz="2800" dirty="0">
                <a:latin typeface="Times New Roman" panose="02020603050405020304" pitchFamily="18" charset="0"/>
                <a:cs typeface="Times New Roman" panose="02020603050405020304" pitchFamily="18" charset="0"/>
              </a:rPr>
              <a:t>les formats </a:t>
            </a:r>
            <a:r>
              <a:rPr lang="fr-FR" sz="2800" dirty="0" smtClean="0">
                <a:latin typeface="Times New Roman" panose="02020603050405020304" pitchFamily="18" charset="0"/>
                <a:cs typeface="Times New Roman" panose="02020603050405020304" pitchFamily="18" charset="0"/>
              </a:rPr>
              <a:t>d’apprentissage (présentiel</a:t>
            </a:r>
            <a:r>
              <a:rPr lang="fr-FR" sz="2800" dirty="0">
                <a:latin typeface="Times New Roman" panose="02020603050405020304" pitchFamily="18" charset="0"/>
                <a:cs typeface="Times New Roman" panose="02020603050405020304" pitchFamily="18" charset="0"/>
              </a:rPr>
              <a:t>, e-learning) et rédiger les </a:t>
            </a:r>
            <a:r>
              <a:rPr lang="fr-FR" sz="2800" dirty="0" smtClean="0">
                <a:latin typeface="Times New Roman" panose="02020603050405020304" pitchFamily="18" charset="0"/>
                <a:cs typeface="Times New Roman" panose="02020603050405020304" pitchFamily="18" charset="0"/>
              </a:rPr>
              <a:t>story-boards</a:t>
            </a:r>
            <a:endParaRPr lang="fr-FR" sz="2800" dirty="0">
              <a:latin typeface="Times New Roman" panose="02020603050405020304" pitchFamily="18" charset="0"/>
              <a:cs typeface="Times New Roman" panose="02020603050405020304" pitchFamily="18" charset="0"/>
            </a:endParaRPr>
          </a:p>
          <a:p>
            <a:pPr marL="0" indent="0" algn="just">
              <a:lnSpc>
                <a:spcPct val="150000"/>
              </a:lnSpc>
              <a:buNone/>
            </a:pPr>
            <a:endParaRPr lang="fr-CM"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33068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94691" y="624110"/>
            <a:ext cx="10109921" cy="1280890"/>
          </a:xfrm>
        </p:spPr>
        <p:txBody>
          <a:bodyPr/>
          <a:lstStyle/>
          <a:p>
            <a:pPr algn="ctr"/>
            <a:r>
              <a:rPr lang="fr-FR" b="1" dirty="0" smtClean="0">
                <a:latin typeface="Times New Roman" panose="02020603050405020304" pitchFamily="18" charset="0"/>
                <a:cs typeface="Times New Roman" panose="02020603050405020304" pitchFamily="18" charset="0"/>
              </a:rPr>
              <a:t>LES PHASES DU MODELE ADDIE</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498764" y="2603500"/>
            <a:ext cx="11046691" cy="3416300"/>
          </a:xfrm>
        </p:spPr>
        <p:txBody>
          <a:bodyPr>
            <a:normAutofit/>
          </a:bodyPr>
          <a:lstStyle/>
          <a:p>
            <a:pPr>
              <a:lnSpc>
                <a:spcPct val="150000"/>
              </a:lnSpc>
              <a:buFont typeface="Wingdings" panose="05000000000000000000" pitchFamily="2" charset="2"/>
              <a:buChar char="Ø"/>
            </a:pPr>
            <a:r>
              <a:rPr lang="fr-FR" sz="2800" b="1" u="sng" dirty="0" smtClean="0">
                <a:latin typeface="Times New Roman" panose="02020603050405020304" pitchFamily="18" charset="0"/>
                <a:cs typeface="Times New Roman" panose="02020603050405020304" pitchFamily="18" charset="0"/>
              </a:rPr>
              <a:t>Développement:</a:t>
            </a:r>
          </a:p>
          <a:p>
            <a:pPr marL="0" indent="0">
              <a:lnSpc>
                <a:spcPct val="150000"/>
              </a:lnSpc>
              <a:buNone/>
            </a:pPr>
            <a:r>
              <a:rPr lang="fr-FR" sz="2800" dirty="0" smtClean="0">
                <a:latin typeface="Times New Roman" panose="02020603050405020304" pitchFamily="18" charset="0"/>
                <a:cs typeface="Times New Roman" panose="02020603050405020304" pitchFamily="18" charset="0"/>
              </a:rPr>
              <a:t>	Cette étape consiste a:</a:t>
            </a:r>
          </a:p>
          <a:p>
            <a:pPr>
              <a:lnSpc>
                <a:spcPct val="150000"/>
              </a:lnSpc>
              <a:buFont typeface="Wingdings" panose="05000000000000000000" pitchFamily="2" charset="2"/>
              <a:buChar char="§"/>
            </a:pPr>
            <a:r>
              <a:rPr lang="fr-FR" sz="2800" dirty="0" smtClean="0">
                <a:latin typeface="Times New Roman" panose="02020603050405020304" pitchFamily="18" charset="0"/>
                <a:cs typeface="Times New Roman" panose="02020603050405020304" pitchFamily="18" charset="0"/>
              </a:rPr>
              <a:t>Créer </a:t>
            </a:r>
            <a:r>
              <a:rPr lang="fr-FR" sz="2800" dirty="0">
                <a:latin typeface="Times New Roman" panose="02020603050405020304" pitchFamily="18" charset="0"/>
                <a:cs typeface="Times New Roman" panose="02020603050405020304" pitchFamily="18" charset="0"/>
              </a:rPr>
              <a:t>concrètement les contenus, modules, supports et ressources médias.</a:t>
            </a:r>
          </a:p>
          <a:p>
            <a:pPr>
              <a:lnSpc>
                <a:spcPct val="150000"/>
              </a:lnSpc>
              <a:buFont typeface="Wingdings" panose="05000000000000000000" pitchFamily="2" charset="2"/>
              <a:buChar char="§"/>
            </a:pPr>
            <a:r>
              <a:rPr lang="fr-FR" sz="2800" dirty="0">
                <a:latin typeface="Times New Roman" panose="02020603050405020304" pitchFamily="18" charset="0"/>
                <a:cs typeface="Times New Roman" panose="02020603050405020304" pitchFamily="18" charset="0"/>
              </a:rPr>
              <a:t>Tester les outils et valider les prototypes avant </a:t>
            </a:r>
            <a:r>
              <a:rPr lang="fr-FR" sz="2800" dirty="0" smtClean="0">
                <a:latin typeface="Times New Roman" panose="02020603050405020304" pitchFamily="18" charset="0"/>
                <a:cs typeface="Times New Roman" panose="02020603050405020304" pitchFamily="18" charset="0"/>
              </a:rPr>
              <a:t>leur </a:t>
            </a:r>
            <a:r>
              <a:rPr lang="fr-FR" sz="2800" dirty="0">
                <a:latin typeface="Times New Roman" panose="02020603050405020304" pitchFamily="18" charset="0"/>
                <a:cs typeface="Times New Roman" panose="02020603050405020304" pitchFamily="18" charset="0"/>
              </a:rPr>
              <a:t>lancement</a:t>
            </a:r>
          </a:p>
          <a:p>
            <a:pPr marL="0" indent="0">
              <a:lnSpc>
                <a:spcPct val="150000"/>
              </a:lnSpc>
              <a:buNone/>
            </a:pPr>
            <a:endParaRPr lang="fr-CM"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42800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42109" y="624110"/>
            <a:ext cx="10562503" cy="1280890"/>
          </a:xfrm>
        </p:spPr>
        <p:txBody>
          <a:bodyPr/>
          <a:lstStyle/>
          <a:p>
            <a:pPr algn="ctr"/>
            <a:r>
              <a:rPr lang="fr-FR" b="1" dirty="0" smtClean="0">
                <a:latin typeface="Times New Roman" panose="02020603050405020304" pitchFamily="18" charset="0"/>
                <a:cs typeface="Times New Roman" panose="02020603050405020304" pitchFamily="18" charset="0"/>
              </a:rPr>
              <a:t>LES PHASES DU MODELE ADDIE</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637310" y="1653309"/>
            <a:ext cx="11203708" cy="4222559"/>
          </a:xfrm>
        </p:spPr>
        <p:txBody>
          <a:bodyPr>
            <a:noAutofit/>
          </a:bodyPr>
          <a:lstStyle/>
          <a:p>
            <a:pPr algn="just">
              <a:lnSpc>
                <a:spcPct val="150000"/>
              </a:lnSpc>
              <a:buFont typeface="Wingdings" panose="05000000000000000000" pitchFamily="2" charset="2"/>
              <a:buChar char="Ø"/>
            </a:pPr>
            <a:r>
              <a:rPr lang="fr-FR" sz="2900" b="1" u="sng" dirty="0">
                <a:latin typeface="Times New Roman" panose="02020603050405020304" pitchFamily="18" charset="0"/>
                <a:cs typeface="Times New Roman" panose="02020603050405020304" pitchFamily="18" charset="0"/>
              </a:rPr>
              <a:t>Implémentation (</a:t>
            </a:r>
            <a:r>
              <a:rPr lang="fr-FR" sz="2900" b="1" u="sng" dirty="0" smtClean="0">
                <a:latin typeface="Times New Roman" panose="02020603050405020304" pitchFamily="18" charset="0"/>
                <a:cs typeface="Times New Roman" panose="02020603050405020304" pitchFamily="18" charset="0"/>
              </a:rPr>
              <a:t>Mise </a:t>
            </a:r>
            <a:r>
              <a:rPr lang="fr-FR" sz="2900" b="1" u="sng" dirty="0">
                <a:latin typeface="Times New Roman" panose="02020603050405020304" pitchFamily="18" charset="0"/>
                <a:cs typeface="Times New Roman" panose="02020603050405020304" pitchFamily="18" charset="0"/>
              </a:rPr>
              <a:t>en </a:t>
            </a:r>
            <a:r>
              <a:rPr lang="fr-FR" sz="2900" b="1" u="sng" dirty="0" smtClean="0">
                <a:latin typeface="Times New Roman" panose="02020603050405020304" pitchFamily="18" charset="0"/>
                <a:cs typeface="Times New Roman" panose="02020603050405020304" pitchFamily="18" charset="0"/>
              </a:rPr>
              <a:t>œuvre):</a:t>
            </a:r>
          </a:p>
          <a:p>
            <a:pPr marL="0" indent="0" algn="just">
              <a:lnSpc>
                <a:spcPct val="150000"/>
              </a:lnSpc>
              <a:buNone/>
            </a:pPr>
            <a:r>
              <a:rPr lang="fr-FR" sz="2900" dirty="0" smtClean="0">
                <a:latin typeface="Times New Roman" panose="02020603050405020304" pitchFamily="18" charset="0"/>
                <a:cs typeface="Times New Roman" panose="02020603050405020304" pitchFamily="18" charset="0"/>
              </a:rPr>
              <a:t>	Les objectifs de cette phase de l’ingénierie pédagogique sont:</a:t>
            </a:r>
          </a:p>
          <a:p>
            <a:pPr algn="just">
              <a:lnSpc>
                <a:spcPct val="150000"/>
              </a:lnSpc>
              <a:buFont typeface="Wingdings" panose="05000000000000000000" pitchFamily="2" charset="2"/>
              <a:buChar char="§"/>
            </a:pPr>
            <a:r>
              <a:rPr lang="fr-FR" sz="2900" dirty="0" smtClean="0">
                <a:latin typeface="Times New Roman" panose="02020603050405020304" pitchFamily="18" charset="0"/>
                <a:cs typeface="Times New Roman" panose="02020603050405020304" pitchFamily="18" charset="0"/>
              </a:rPr>
              <a:t>Le déploiement du </a:t>
            </a:r>
            <a:r>
              <a:rPr lang="fr-FR" sz="2900" dirty="0">
                <a:latin typeface="Times New Roman" panose="02020603050405020304" pitchFamily="18" charset="0"/>
                <a:cs typeface="Times New Roman" panose="02020603050405020304" pitchFamily="18" charset="0"/>
              </a:rPr>
              <a:t>programme de formation auprès des apprenants.</a:t>
            </a:r>
          </a:p>
          <a:p>
            <a:pPr algn="just">
              <a:lnSpc>
                <a:spcPct val="150000"/>
              </a:lnSpc>
              <a:buFont typeface="Wingdings" panose="05000000000000000000" pitchFamily="2" charset="2"/>
              <a:buChar char="§"/>
            </a:pPr>
            <a:r>
              <a:rPr lang="fr-FR" sz="2900" dirty="0" smtClean="0">
                <a:latin typeface="Times New Roman" panose="02020603050405020304" pitchFamily="18" charset="0"/>
                <a:cs typeface="Times New Roman" panose="02020603050405020304" pitchFamily="18" charset="0"/>
              </a:rPr>
              <a:t>La gestion de </a:t>
            </a:r>
            <a:r>
              <a:rPr lang="fr-FR" sz="2900" dirty="0">
                <a:latin typeface="Times New Roman" panose="02020603050405020304" pitchFamily="18" charset="0"/>
                <a:cs typeface="Times New Roman" panose="02020603050405020304" pitchFamily="18" charset="0"/>
              </a:rPr>
              <a:t>la logistique, l'accès aux plateformes et l'accompagnement des participants</a:t>
            </a:r>
          </a:p>
          <a:p>
            <a:pPr marL="0" indent="0" algn="just">
              <a:lnSpc>
                <a:spcPct val="150000"/>
              </a:lnSpc>
              <a:buNone/>
            </a:pPr>
            <a:endParaRPr lang="fr-CM" sz="2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53781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85455" y="624110"/>
            <a:ext cx="10119157" cy="1280890"/>
          </a:xfrm>
        </p:spPr>
        <p:txBody>
          <a:bodyPr/>
          <a:lstStyle/>
          <a:p>
            <a:pPr algn="ctr"/>
            <a:r>
              <a:rPr lang="fr-FR" b="1" dirty="0" smtClean="0">
                <a:latin typeface="Times New Roman" panose="02020603050405020304" pitchFamily="18" charset="0"/>
                <a:cs typeface="Times New Roman" panose="02020603050405020304" pitchFamily="18" charset="0"/>
              </a:rPr>
              <a:t>LES PHASES DU MODELE ADDIE</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1154954" y="1644073"/>
            <a:ext cx="10436682" cy="4375727"/>
          </a:xfrm>
        </p:spPr>
        <p:txBody>
          <a:bodyPr>
            <a:noAutofit/>
          </a:bodyPr>
          <a:lstStyle/>
          <a:p>
            <a:pPr>
              <a:lnSpc>
                <a:spcPct val="150000"/>
              </a:lnSpc>
              <a:buFont typeface="Wingdings" panose="05000000000000000000" pitchFamily="2" charset="2"/>
              <a:buChar char="Ø"/>
            </a:pPr>
            <a:r>
              <a:rPr lang="fr-FR" sz="2800" b="1" u="sng" dirty="0" smtClean="0">
                <a:latin typeface="Times New Roman" panose="02020603050405020304" pitchFamily="18" charset="0"/>
                <a:cs typeface="Times New Roman" panose="02020603050405020304" pitchFamily="18" charset="0"/>
              </a:rPr>
              <a:t>Évaluation:</a:t>
            </a:r>
          </a:p>
          <a:p>
            <a:pPr marL="0" indent="0">
              <a:lnSpc>
                <a:spcPct val="150000"/>
              </a:lnSpc>
              <a:buNone/>
            </a:pPr>
            <a:r>
              <a:rPr lang="fr-FR" sz="2800" b="1" dirty="0" smtClean="0">
                <a:latin typeface="Times New Roman" panose="02020603050405020304" pitchFamily="18" charset="0"/>
                <a:cs typeface="Times New Roman" panose="02020603050405020304" pitchFamily="18" charset="0"/>
              </a:rPr>
              <a:t>	</a:t>
            </a:r>
            <a:r>
              <a:rPr lang="fr-FR" sz="2800" dirty="0" smtClean="0">
                <a:latin typeface="Times New Roman" panose="02020603050405020304" pitchFamily="18" charset="0"/>
                <a:cs typeface="Times New Roman" panose="02020603050405020304" pitchFamily="18" charset="0"/>
              </a:rPr>
              <a:t>Il est question, pour cette phase, de:</a:t>
            </a:r>
          </a:p>
          <a:p>
            <a:pPr>
              <a:lnSpc>
                <a:spcPct val="150000"/>
              </a:lnSpc>
              <a:buFont typeface="Wingdings" panose="05000000000000000000" pitchFamily="2" charset="2"/>
              <a:buChar char="§"/>
            </a:pPr>
            <a:r>
              <a:rPr lang="fr-FR" sz="2800" dirty="0" smtClean="0">
                <a:latin typeface="Times New Roman" panose="02020603050405020304" pitchFamily="18" charset="0"/>
                <a:cs typeface="Times New Roman" panose="02020603050405020304" pitchFamily="18" charset="0"/>
              </a:rPr>
              <a:t>Mesurer </a:t>
            </a:r>
            <a:r>
              <a:rPr lang="fr-FR" sz="2800" dirty="0">
                <a:latin typeface="Times New Roman" panose="02020603050405020304" pitchFamily="18" charset="0"/>
                <a:cs typeface="Times New Roman" panose="02020603050405020304" pitchFamily="18" charset="0"/>
              </a:rPr>
              <a:t>l'efficacité de la formation et l'atteinte des objectifs.</a:t>
            </a:r>
          </a:p>
          <a:p>
            <a:pPr>
              <a:lnSpc>
                <a:spcPct val="150000"/>
              </a:lnSpc>
              <a:buFont typeface="Wingdings" panose="05000000000000000000" pitchFamily="2" charset="2"/>
              <a:buChar char="§"/>
            </a:pPr>
            <a:r>
              <a:rPr lang="fr-FR" sz="2800" dirty="0">
                <a:latin typeface="Times New Roman" panose="02020603050405020304" pitchFamily="18" charset="0"/>
                <a:cs typeface="Times New Roman" panose="02020603050405020304" pitchFamily="18" charset="0"/>
              </a:rPr>
              <a:t>Recueillir les retours (feedbacks) pour optimiser les sessions futures dans une démarche d'amélioration continue</a:t>
            </a:r>
          </a:p>
          <a:p>
            <a:pPr marL="0" indent="0">
              <a:lnSpc>
                <a:spcPct val="150000"/>
              </a:lnSpc>
              <a:buNone/>
            </a:pPr>
            <a:endParaRPr lang="fr-CM"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97536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15636" y="245419"/>
            <a:ext cx="11360727" cy="1280890"/>
          </a:xfrm>
        </p:spPr>
        <p:txBody>
          <a:bodyPr>
            <a:normAutofit/>
          </a:bodyPr>
          <a:lstStyle/>
          <a:p>
            <a:pPr algn="ctr"/>
            <a:r>
              <a:rPr lang="fr-FR" b="1" dirty="0" smtClean="0">
                <a:latin typeface="Times New Roman" panose="02020603050405020304" pitchFamily="18" charset="0"/>
                <a:cs typeface="Times New Roman" panose="02020603050405020304" pitchFamily="18" charset="0"/>
              </a:rPr>
              <a:t>FONCTIONNEMENT ET AVANTAGES DU MODELE ADDIE</a:t>
            </a:r>
            <a:endParaRPr lang="fr-CM"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785091" y="1397607"/>
            <a:ext cx="10621818" cy="581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Ces avantages sont essentiellement au nombre de 3:</a:t>
            </a:r>
          </a:p>
          <a:p>
            <a:pPr marL="0" marR="0" lvl="0" indent="0" algn="just" defTabSz="914400" rtl="0" eaLnBrk="0" fontAlgn="base" latinLnBrk="0" hangingPunct="0">
              <a:lnSpc>
                <a:spcPct val="150000"/>
              </a:lnSpc>
              <a:spcBef>
                <a:spcPct val="0"/>
              </a:spcBef>
              <a:spcAft>
                <a:spcPct val="0"/>
              </a:spcAft>
              <a:buClrTx/>
              <a:buSzTx/>
              <a:buNone/>
              <a:tabLst/>
            </a:pP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Approche </a:t>
            </a: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itérative :</a:t>
            </a: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phases s'enchaînent de manière logique, mais l'évaluation permet d'ajuster et d'alimenter une nouvelle analyse pour améliorer le dispositif en continu. </a:t>
            </a:r>
          </a:p>
          <a:p>
            <a:pPr marL="0" marR="0" lvl="0" indent="0" algn="just" defTabSz="914400" rtl="0" eaLnBrk="0" fontAlgn="base" latinLnBrk="0" hangingPunct="0">
              <a:lnSpc>
                <a:spcPct val="150000"/>
              </a:lnSpc>
              <a:spcBef>
                <a:spcPct val="0"/>
              </a:spcBef>
              <a:spcAft>
                <a:spcPct val="0"/>
              </a:spcAft>
              <a:buClrTx/>
              <a:buSzTx/>
              <a:buNone/>
              <a:tabLst/>
            </a:pP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Flexibilité </a:t>
            </a: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S'adapte aussi bien aux cours en ligne (e-learning) qu'aux formations en présentiel ou mixtes (blended learning). </a:t>
            </a:r>
          </a:p>
          <a:p>
            <a:pPr marL="0" marR="0" lvl="0" indent="0" algn="just" defTabSz="914400" rtl="0" eaLnBrk="0" fontAlgn="base" latinLnBrk="0" hangingPunct="0">
              <a:lnSpc>
                <a:spcPct val="150000"/>
              </a:lnSpc>
              <a:spcBef>
                <a:spcPct val="0"/>
              </a:spcBef>
              <a:spcAft>
                <a:spcPct val="0"/>
              </a:spcAft>
              <a:buClrTx/>
              <a:buSzTx/>
              <a:buNone/>
              <a:tabLst/>
            </a:pP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Maîtrise </a:t>
            </a: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des coûts :</a:t>
            </a: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Permet d'anticiper les besoins dès la phase d'analyse pour éviter les erreurs de conception et les dérives budgétaires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72616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82782" y="840509"/>
            <a:ext cx="10515600" cy="5588000"/>
          </a:xfrm>
        </p:spPr>
        <p:txBody>
          <a:bodyPr>
            <a:normAutofit/>
          </a:bodyPr>
          <a:lstStyle/>
          <a:p>
            <a:pPr marL="0" indent="0" algn="just">
              <a:buNone/>
            </a:pPr>
            <a:r>
              <a:rPr lang="fr-FR" sz="3000" b="1" dirty="0" smtClean="0">
                <a:latin typeface="Times New Roman" panose="02020603050405020304" pitchFamily="18" charset="0"/>
                <a:cs typeface="Times New Roman" panose="02020603050405020304" pitchFamily="18" charset="0"/>
              </a:rPr>
              <a:t>2- SAM</a:t>
            </a:r>
          </a:p>
          <a:p>
            <a:pPr marL="0" indent="0" algn="just">
              <a:buNone/>
            </a:pPr>
            <a:r>
              <a:rPr lang="fr-FR" sz="3000" b="1" dirty="0" smtClean="0">
                <a:latin typeface="Times New Roman" panose="02020603050405020304" pitchFamily="18" charset="0"/>
                <a:cs typeface="Times New Roman" panose="02020603050405020304" pitchFamily="18" charset="0"/>
              </a:rPr>
              <a:t>	SAM</a:t>
            </a:r>
            <a:r>
              <a:rPr lang="fr-FR" sz="3000" dirty="0" smtClean="0">
                <a:latin typeface="Times New Roman" panose="02020603050405020304" pitchFamily="18" charset="0"/>
                <a:cs typeface="Times New Roman" panose="02020603050405020304" pitchFamily="18" charset="0"/>
              </a:rPr>
              <a:t> est l’acronyme de </a:t>
            </a:r>
            <a:r>
              <a:rPr lang="fr-FR" sz="3000" b="1" dirty="0">
                <a:latin typeface="Times New Roman" panose="02020603050405020304" pitchFamily="18" charset="0"/>
                <a:cs typeface="Times New Roman" panose="02020603050405020304" pitchFamily="18" charset="0"/>
              </a:rPr>
              <a:t>S</a:t>
            </a:r>
            <a:r>
              <a:rPr lang="fr-FR" sz="3000" dirty="0">
                <a:latin typeface="Times New Roman" panose="02020603050405020304" pitchFamily="18" charset="0"/>
                <a:cs typeface="Times New Roman" panose="02020603050405020304" pitchFamily="18" charset="0"/>
              </a:rPr>
              <a:t>uccessive </a:t>
            </a:r>
            <a:r>
              <a:rPr lang="fr-FR" sz="3000" b="1" dirty="0">
                <a:latin typeface="Times New Roman" panose="02020603050405020304" pitchFamily="18" charset="0"/>
                <a:cs typeface="Times New Roman" panose="02020603050405020304" pitchFamily="18" charset="0"/>
              </a:rPr>
              <a:t>A</a:t>
            </a:r>
            <a:r>
              <a:rPr lang="fr-FR" sz="3000" dirty="0">
                <a:latin typeface="Times New Roman" panose="02020603050405020304" pitchFamily="18" charset="0"/>
                <a:cs typeface="Times New Roman" panose="02020603050405020304" pitchFamily="18" charset="0"/>
              </a:rPr>
              <a:t>pproximation </a:t>
            </a:r>
            <a:r>
              <a:rPr lang="fr-FR" sz="3000" b="1" dirty="0">
                <a:latin typeface="Times New Roman" panose="02020603050405020304" pitchFamily="18" charset="0"/>
                <a:cs typeface="Times New Roman" panose="02020603050405020304" pitchFamily="18" charset="0"/>
              </a:rPr>
              <a:t>M</a:t>
            </a:r>
            <a:r>
              <a:rPr lang="fr-FR" sz="3000" dirty="0">
                <a:latin typeface="Times New Roman" panose="02020603050405020304" pitchFamily="18" charset="0"/>
                <a:cs typeface="Times New Roman" panose="02020603050405020304" pitchFamily="18" charset="0"/>
              </a:rPr>
              <a:t>odel</a:t>
            </a:r>
            <a:r>
              <a:rPr lang="fr-FR" sz="3000" dirty="0" smtClean="0">
                <a:latin typeface="Times New Roman" panose="02020603050405020304" pitchFamily="18" charset="0"/>
                <a:cs typeface="Times New Roman" panose="02020603050405020304" pitchFamily="18" charset="0"/>
              </a:rPr>
              <a:t> (Modèle d'approximation successive). </a:t>
            </a:r>
          </a:p>
          <a:p>
            <a:pPr marL="0" indent="0" algn="just">
              <a:buNone/>
            </a:pPr>
            <a:r>
              <a:rPr lang="fr-FR" sz="3000" dirty="0" smtClean="0">
                <a:latin typeface="Times New Roman" panose="02020603050405020304" pitchFamily="18" charset="0"/>
                <a:cs typeface="Times New Roman" panose="02020603050405020304" pitchFamily="18" charset="0"/>
              </a:rPr>
              <a:t>	Il s’agit en fait d’une méthode de conception de formations agile et itérative, créée par Michael Allen (d'Allen Interactions)</a:t>
            </a:r>
          </a:p>
          <a:p>
            <a:pPr marL="0" indent="0" algn="just">
              <a:buNone/>
            </a:pPr>
            <a:r>
              <a:rPr lang="fr-FR" sz="3000" dirty="0" smtClean="0">
                <a:latin typeface="Times New Roman" panose="02020603050405020304" pitchFamily="18" charset="0"/>
                <a:cs typeface="Times New Roman" panose="02020603050405020304" pitchFamily="18" charset="0"/>
              </a:rPr>
              <a:t>	C’est donc une méthodologie de gestion de projet agile (c’est-a-dire une approche de gestion de projet qui découpe le travail en cycles courts et répétés, appelés </a:t>
            </a:r>
            <a:r>
              <a:rPr lang="fr-FR" sz="3000" b="1" dirty="0">
                <a:latin typeface="Times New Roman" panose="02020603050405020304" pitchFamily="18" charset="0"/>
                <a:cs typeface="Times New Roman" panose="02020603050405020304" pitchFamily="18" charset="0"/>
              </a:rPr>
              <a:t>itérations</a:t>
            </a:r>
            <a:r>
              <a:rPr lang="fr-FR" sz="3000" dirty="0" smtClean="0">
                <a:latin typeface="Times New Roman" panose="02020603050405020304" pitchFamily="18" charset="0"/>
                <a:cs typeface="Times New Roman" panose="02020603050405020304" pitchFamily="18" charset="0"/>
              </a:rPr>
              <a:t> ou </a:t>
            </a:r>
            <a:r>
              <a:rPr lang="fr-FR" sz="3000" b="1" dirty="0">
                <a:latin typeface="Times New Roman" panose="02020603050405020304" pitchFamily="18" charset="0"/>
                <a:cs typeface="Times New Roman" panose="02020603050405020304" pitchFamily="18" charset="0"/>
              </a:rPr>
              <a:t>sprints</a:t>
            </a:r>
            <a:r>
              <a:rPr lang="fr-FR" sz="3000" dirty="0" smtClean="0">
                <a:latin typeface="Times New Roman" panose="02020603050405020304" pitchFamily="18" charset="0"/>
                <a:cs typeface="Times New Roman" panose="02020603050405020304" pitchFamily="18" charset="0"/>
              </a:rPr>
              <a:t> pour s'adapter rapidement aux changements et impliquer le client en continu) utilisée pour créer des formations (e-learning) par approximations successives</a:t>
            </a:r>
            <a:endParaRPr lang="fr-CM" sz="3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2596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80291" y="1034473"/>
            <a:ext cx="11222181" cy="5142490"/>
          </a:xfrm>
        </p:spPr>
        <p:txBody>
          <a:bodyPr>
            <a:normAutofit lnSpcReduction="10000"/>
          </a:bodyPr>
          <a:lstStyle/>
          <a:p>
            <a:pPr marL="0" indent="0" algn="just">
              <a:lnSpc>
                <a:spcPct val="150000"/>
              </a:lnSpc>
              <a:buNone/>
            </a:pPr>
            <a:r>
              <a:rPr lang="fr-FR" sz="3200" dirty="0" smtClean="0">
                <a:latin typeface="Times New Roman" panose="02020603050405020304" pitchFamily="18" charset="0"/>
                <a:cs typeface="Times New Roman" panose="02020603050405020304" pitchFamily="18" charset="0"/>
              </a:rPr>
              <a:t>	Contrairement au modèle ADDIE qui avance étape par étape sans retour en arrière facile, SAM mise sur la collaboration rapide et la création de prototypes dès le début de la conception.</a:t>
            </a:r>
          </a:p>
          <a:p>
            <a:pPr marL="0" indent="0" algn="just">
              <a:lnSpc>
                <a:spcPct val="150000"/>
              </a:lnSpc>
              <a:buNone/>
            </a:pPr>
            <a:r>
              <a:rPr lang="fr-FR" sz="3200" dirty="0" smtClean="0">
                <a:latin typeface="Times New Roman" panose="02020603050405020304" pitchFamily="18" charset="0"/>
                <a:cs typeface="Times New Roman" panose="02020603050405020304" pitchFamily="18" charset="0"/>
              </a:rPr>
              <a:t>	SAM s’appuie sur trois (03) principes clés fondamentaux, notamment:</a:t>
            </a:r>
          </a:p>
          <a:p>
            <a:pPr algn="just">
              <a:lnSpc>
                <a:spcPct val="150000"/>
              </a:lnSpc>
              <a:buFontTx/>
              <a:buChar char="-"/>
            </a:pPr>
            <a:r>
              <a:rPr lang="fr-FR" sz="3200" b="1" u="sng" dirty="0" smtClean="0">
                <a:latin typeface="Times New Roman" panose="02020603050405020304" pitchFamily="18" charset="0"/>
                <a:cs typeface="Times New Roman" panose="02020603050405020304" pitchFamily="18" charset="0"/>
              </a:rPr>
              <a:t>L’approche agile:</a:t>
            </a:r>
            <a:r>
              <a:rPr lang="fr-FR" sz="3200" dirty="0" smtClean="0">
                <a:latin typeface="Times New Roman" panose="02020603050405020304" pitchFamily="18" charset="0"/>
                <a:cs typeface="Times New Roman" panose="02020603050405020304" pitchFamily="18" charset="0"/>
              </a:rPr>
              <a:t> Le projet se construit par petits cycles répétés (itérations). On teste, on corrige et on améliore en continu</a:t>
            </a:r>
          </a:p>
        </p:txBody>
      </p:sp>
    </p:spTree>
    <p:extLst>
      <p:ext uri="{BB962C8B-B14F-4D97-AF65-F5344CB8AC3E}">
        <p14:creationId xmlns:p14="http://schemas.microsoft.com/office/powerpoint/2010/main" val="22154191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838200" y="1403927"/>
            <a:ext cx="10515600" cy="4773035"/>
          </a:xfrm>
        </p:spPr>
        <p:txBody>
          <a:bodyPr>
            <a:normAutofit/>
          </a:bodyPr>
          <a:lstStyle/>
          <a:p>
            <a:pPr algn="just">
              <a:lnSpc>
                <a:spcPct val="150000"/>
              </a:lnSpc>
              <a:buFontTx/>
              <a:buChar char="-"/>
            </a:pPr>
            <a:r>
              <a:rPr lang="fr-FR" sz="2800" b="1" u="sng" dirty="0" smtClean="0">
                <a:latin typeface="Times New Roman" panose="02020603050405020304" pitchFamily="18" charset="0"/>
                <a:cs typeface="Times New Roman" panose="02020603050405020304" pitchFamily="18" charset="0"/>
              </a:rPr>
              <a:t>La collaboration:</a:t>
            </a:r>
            <a:r>
              <a:rPr lang="fr-FR" sz="2800" dirty="0" smtClean="0">
                <a:latin typeface="Times New Roman" panose="02020603050405020304" pitchFamily="18" charset="0"/>
                <a:cs typeface="Times New Roman" panose="02020603050405020304" pitchFamily="18" charset="0"/>
              </a:rPr>
              <a:t> Les concepteurs, les experts du sujet, les formateurs et les apprenants travaillent ensemble tout au long du processus</a:t>
            </a:r>
          </a:p>
          <a:p>
            <a:pPr algn="just">
              <a:lnSpc>
                <a:spcPct val="150000"/>
              </a:lnSpc>
              <a:buFontTx/>
              <a:buChar char="-"/>
            </a:pPr>
            <a:r>
              <a:rPr lang="fr-FR" sz="2800" b="1" u="sng" dirty="0">
                <a:latin typeface="Times New Roman" panose="02020603050405020304" pitchFamily="18" charset="0"/>
                <a:cs typeface="Times New Roman" panose="02020603050405020304" pitchFamily="18" charset="0"/>
              </a:rPr>
              <a:t>Le prototypage </a:t>
            </a:r>
            <a:r>
              <a:rPr lang="fr-FR" sz="2800" b="1" u="sng" dirty="0" smtClean="0">
                <a:latin typeface="Times New Roman" panose="02020603050405020304" pitchFamily="18" charset="0"/>
                <a:cs typeface="Times New Roman" panose="02020603050405020304" pitchFamily="18" charset="0"/>
              </a:rPr>
              <a:t>rapide:</a:t>
            </a:r>
            <a:r>
              <a:rPr lang="fr-FR" sz="2800" dirty="0" smtClean="0">
                <a:latin typeface="Times New Roman" panose="02020603050405020304" pitchFamily="18" charset="0"/>
                <a:cs typeface="Times New Roman" panose="02020603050405020304" pitchFamily="18" charset="0"/>
              </a:rPr>
              <a:t> Un prototype simple est créé très tôt dans le projet. Cela permet aux équipes et aux apprenants de voir, tester et commenter concrètement le contenu avant la version finale</a:t>
            </a:r>
            <a:endParaRPr lang="fr-CM" sz="2800" dirty="0" smtClean="0">
              <a:latin typeface="Times New Roman" panose="02020603050405020304" pitchFamily="18" charset="0"/>
              <a:cs typeface="Times New Roman" panose="02020603050405020304" pitchFamily="18" charset="0"/>
            </a:endParaRPr>
          </a:p>
          <a:p>
            <a:pPr marL="0" indent="0" algn="just">
              <a:lnSpc>
                <a:spcPct val="150000"/>
              </a:lnSpc>
              <a:buNone/>
            </a:pPr>
            <a:endParaRPr lang="fr-CM"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4777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949035" y="674255"/>
            <a:ext cx="10799619" cy="5809672"/>
          </a:xfrm>
        </p:spPr>
        <p:txBody>
          <a:bodyPr>
            <a:normAutofit/>
          </a:bodyPr>
          <a:lstStyle/>
          <a:p>
            <a:pPr marL="0" indent="0" algn="just">
              <a:lnSpc>
                <a:spcPct val="100000"/>
              </a:lnSpc>
              <a:buNone/>
            </a:pPr>
            <a:r>
              <a:rPr lang="fr-FR" sz="3200" b="1" dirty="0" smtClean="0">
                <a:latin typeface="Times New Roman" panose="02020603050405020304" pitchFamily="18" charset="0"/>
                <a:cs typeface="Times New Roman" panose="02020603050405020304" pitchFamily="18" charset="0"/>
              </a:rPr>
              <a:t>3- </a:t>
            </a:r>
            <a:r>
              <a:rPr lang="fr-FR" sz="3200" b="1" u="sng" dirty="0" smtClean="0">
                <a:latin typeface="Times New Roman" panose="02020603050405020304" pitchFamily="18" charset="0"/>
                <a:cs typeface="Times New Roman" panose="02020603050405020304" pitchFamily="18" charset="0"/>
              </a:rPr>
              <a:t>La taxonomie de Bloom</a:t>
            </a:r>
          </a:p>
          <a:p>
            <a:pPr marL="0" indent="0" algn="just">
              <a:lnSpc>
                <a:spcPct val="100000"/>
              </a:lnSpc>
              <a:buNone/>
            </a:pPr>
            <a:r>
              <a:rPr lang="fr-FR" sz="3200" dirty="0" smtClean="0">
                <a:latin typeface="Times New Roman" panose="02020603050405020304" pitchFamily="18" charset="0"/>
                <a:cs typeface="Times New Roman" panose="02020603050405020304" pitchFamily="18" charset="0"/>
              </a:rPr>
              <a:t>	C’est un </a:t>
            </a:r>
            <a:r>
              <a:rPr lang="fr-FR" sz="3200" dirty="0">
                <a:latin typeface="Times New Roman" panose="02020603050405020304" pitchFamily="18" charset="0"/>
                <a:cs typeface="Times New Roman" panose="02020603050405020304" pitchFamily="18" charset="0"/>
              </a:rPr>
              <a:t>modèle pédagogique</a:t>
            </a:r>
            <a:r>
              <a:rPr lang="fr-FR" sz="3200" dirty="0" smtClean="0">
                <a:latin typeface="Times New Roman" panose="02020603050405020304" pitchFamily="18" charset="0"/>
                <a:cs typeface="Times New Roman" panose="02020603050405020304" pitchFamily="18" charset="0"/>
              </a:rPr>
              <a:t> qui classe les niveaux d'acquisition des compétences cognitives du plus simple au plus complexe. Ce modèle consiste en six niveaux différents:</a:t>
            </a:r>
          </a:p>
          <a:p>
            <a:pPr marL="0" lvl="0" indent="0" algn="just" eaLnBrk="0" fontAlgn="base" hangingPunct="0">
              <a:lnSpc>
                <a:spcPct val="100000"/>
              </a:lnSpc>
              <a:spcBef>
                <a:spcPct val="0"/>
              </a:spcBef>
              <a:spcAft>
                <a:spcPct val="0"/>
              </a:spcAft>
              <a:buNone/>
            </a:pPr>
            <a:r>
              <a:rPr lang="fr-FR" altLang="fr-FR" sz="3200" b="1" dirty="0" smtClean="0">
                <a:latin typeface="Times New Roman" panose="02020603050405020304" pitchFamily="18" charset="0"/>
                <a:cs typeface="Times New Roman" panose="02020603050405020304" pitchFamily="18" charset="0"/>
              </a:rPr>
              <a:t>- Mémoriser </a:t>
            </a:r>
            <a:r>
              <a:rPr lang="fr-FR" altLang="fr-FR" sz="3200" b="1" dirty="0">
                <a:latin typeface="Times New Roman" panose="02020603050405020304" pitchFamily="18" charset="0"/>
                <a:cs typeface="Times New Roman" panose="02020603050405020304" pitchFamily="18" charset="0"/>
              </a:rPr>
              <a:t>(ou se souvenir) :</a:t>
            </a:r>
            <a:r>
              <a:rPr lang="fr-FR" altLang="fr-FR" sz="3200" dirty="0">
                <a:latin typeface="Times New Roman" panose="02020603050405020304" pitchFamily="18" charset="0"/>
                <a:cs typeface="Times New Roman" panose="02020603050405020304" pitchFamily="18" charset="0"/>
              </a:rPr>
              <a:t> Retenir et restituer des informations (définir, lister, nommer).</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None/>
            </a:pPr>
            <a:r>
              <a:rPr lang="fr-FR" altLang="fr-FR" sz="3200" b="1" dirty="0" smtClean="0">
                <a:latin typeface="Times New Roman" panose="02020603050405020304" pitchFamily="18" charset="0"/>
                <a:cs typeface="Times New Roman" panose="02020603050405020304" pitchFamily="18" charset="0"/>
              </a:rPr>
              <a:t>- Comprendre </a:t>
            </a:r>
            <a:r>
              <a:rPr lang="fr-FR" altLang="fr-FR" sz="3200" b="1" dirty="0">
                <a:latin typeface="Times New Roman" panose="02020603050405020304" pitchFamily="18" charset="0"/>
                <a:cs typeface="Times New Roman" panose="02020603050405020304" pitchFamily="18" charset="0"/>
              </a:rPr>
              <a:t>:</a:t>
            </a:r>
            <a:r>
              <a:rPr lang="fr-FR" altLang="fr-FR" sz="3200" dirty="0">
                <a:latin typeface="Times New Roman" panose="02020603050405020304" pitchFamily="18" charset="0"/>
                <a:cs typeface="Times New Roman" panose="02020603050405020304" pitchFamily="18" charset="0"/>
              </a:rPr>
              <a:t> Saisir le sens des informations et les expliquer avec ses propres mots (illustrer, classifier, résumer).</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None/>
            </a:pPr>
            <a:r>
              <a:rPr lang="fr-FR" altLang="fr-FR" sz="3200" b="1" dirty="0" smtClean="0">
                <a:latin typeface="Times New Roman" panose="02020603050405020304" pitchFamily="18" charset="0"/>
                <a:cs typeface="Times New Roman" panose="02020603050405020304" pitchFamily="18" charset="0"/>
              </a:rPr>
              <a:t>- Appliquer </a:t>
            </a:r>
            <a:r>
              <a:rPr lang="fr-FR" altLang="fr-FR" sz="3200" b="1" dirty="0">
                <a:latin typeface="Times New Roman" panose="02020603050405020304" pitchFamily="18" charset="0"/>
                <a:cs typeface="Times New Roman" panose="02020603050405020304" pitchFamily="18" charset="0"/>
              </a:rPr>
              <a:t>:</a:t>
            </a:r>
            <a:r>
              <a:rPr lang="fr-FR" altLang="fr-FR" sz="3200" dirty="0">
                <a:latin typeface="Times New Roman" panose="02020603050405020304" pitchFamily="18" charset="0"/>
                <a:cs typeface="Times New Roman" panose="02020603050405020304" pitchFamily="18" charset="0"/>
              </a:rPr>
              <a:t> Utiliser les connaissances dans une situation nouvelle ou concrète (calculer, utiliser, résoudre</a:t>
            </a:r>
            <a:r>
              <a:rPr lang="fr-FR" altLang="fr-FR" sz="3200" dirty="0" smtClean="0">
                <a:latin typeface="Times New Roman" panose="02020603050405020304" pitchFamily="18" charset="0"/>
                <a:cs typeface="Times New Roman" panose="02020603050405020304" pitchFamily="18" charset="0"/>
              </a:rPr>
              <a:t>).</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91563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838200" y="868218"/>
            <a:ext cx="10734964" cy="5308745"/>
          </a:xfrm>
        </p:spPr>
        <p:txBody>
          <a:bodyPr>
            <a:normAutofit/>
          </a:bodyPr>
          <a:lstStyle/>
          <a:p>
            <a:pPr marL="0" lvl="0" indent="0" algn="just" eaLnBrk="0" fontAlgn="base" hangingPunct="0">
              <a:lnSpc>
                <a:spcPct val="150000"/>
              </a:lnSpc>
              <a:spcBef>
                <a:spcPct val="0"/>
              </a:spcBef>
              <a:spcAft>
                <a:spcPct val="0"/>
              </a:spcAft>
              <a:buNone/>
            </a:pPr>
            <a:r>
              <a:rPr lang="fr-FR" altLang="fr-FR" sz="3200" b="1" dirty="0" smtClean="0">
                <a:latin typeface="Times New Roman" panose="02020603050405020304" pitchFamily="18" charset="0"/>
                <a:cs typeface="Times New Roman" panose="02020603050405020304" pitchFamily="18" charset="0"/>
              </a:rPr>
              <a:t>- Analyser </a:t>
            </a:r>
            <a:r>
              <a:rPr lang="fr-FR" altLang="fr-FR" sz="3200" b="1" dirty="0" smtClean="0">
                <a:latin typeface="Times New Roman" panose="02020603050405020304" pitchFamily="18" charset="0"/>
                <a:cs typeface="Times New Roman" panose="02020603050405020304" pitchFamily="18" charset="0"/>
              </a:rPr>
              <a:t>:</a:t>
            </a:r>
            <a:r>
              <a:rPr lang="fr-FR" altLang="fr-FR" sz="3200" dirty="0" smtClean="0">
                <a:latin typeface="Times New Roman" panose="02020603050405020304" pitchFamily="18" charset="0"/>
                <a:cs typeface="Times New Roman" panose="02020603050405020304" pitchFamily="18" charset="0"/>
              </a:rPr>
              <a:t> Décomposer l'information en parties pour examiner les relations (comparer, examiner, contraster).</a:t>
            </a:r>
          </a:p>
          <a:p>
            <a:pPr marL="0" lvl="0" indent="0" algn="just" eaLnBrk="0" fontAlgn="base" hangingPunct="0">
              <a:lnSpc>
                <a:spcPct val="150000"/>
              </a:lnSpc>
              <a:spcBef>
                <a:spcPct val="0"/>
              </a:spcBef>
              <a:spcAft>
                <a:spcPct val="0"/>
              </a:spcAft>
              <a:buNone/>
            </a:pPr>
            <a:r>
              <a:rPr lang="fr-FR" altLang="fr-FR" sz="3200" b="1" dirty="0" smtClean="0">
                <a:latin typeface="Times New Roman" panose="02020603050405020304" pitchFamily="18" charset="0"/>
                <a:cs typeface="Times New Roman" panose="02020603050405020304" pitchFamily="18" charset="0"/>
              </a:rPr>
              <a:t>- Évaluer </a:t>
            </a:r>
            <a:r>
              <a:rPr lang="fr-FR" altLang="fr-FR" sz="3200" b="1" dirty="0" smtClean="0">
                <a:latin typeface="Times New Roman" panose="02020603050405020304" pitchFamily="18" charset="0"/>
                <a:cs typeface="Times New Roman" panose="02020603050405020304" pitchFamily="18" charset="0"/>
              </a:rPr>
              <a:t>:</a:t>
            </a:r>
            <a:r>
              <a:rPr lang="fr-FR" altLang="fr-FR" sz="3200" dirty="0" smtClean="0">
                <a:latin typeface="Times New Roman" panose="02020603050405020304" pitchFamily="18" charset="0"/>
                <a:cs typeface="Times New Roman" panose="02020603050405020304" pitchFamily="18" charset="0"/>
              </a:rPr>
              <a:t> Porter un jugement critique sur la valeur d'éléments ou de méthodes (justifier, critiquer, argumenter).</a:t>
            </a:r>
          </a:p>
          <a:p>
            <a:pPr marL="0" lvl="0" indent="0" algn="just" eaLnBrk="0" fontAlgn="base" hangingPunct="0">
              <a:lnSpc>
                <a:spcPct val="150000"/>
              </a:lnSpc>
              <a:spcBef>
                <a:spcPct val="0"/>
              </a:spcBef>
              <a:spcAft>
                <a:spcPct val="0"/>
              </a:spcAft>
              <a:buNone/>
            </a:pPr>
            <a:r>
              <a:rPr lang="fr-FR" altLang="fr-FR" sz="3200" b="1" dirty="0" smtClean="0">
                <a:latin typeface="Times New Roman" panose="02020603050405020304" pitchFamily="18" charset="0"/>
                <a:cs typeface="Times New Roman" panose="02020603050405020304" pitchFamily="18" charset="0"/>
              </a:rPr>
              <a:t>- Créer </a:t>
            </a:r>
            <a:r>
              <a:rPr lang="fr-FR" altLang="fr-FR" sz="3200" b="1" dirty="0" smtClean="0">
                <a:latin typeface="Times New Roman" panose="02020603050405020304" pitchFamily="18" charset="0"/>
                <a:cs typeface="Times New Roman" panose="02020603050405020304" pitchFamily="18" charset="0"/>
              </a:rPr>
              <a:t>:</a:t>
            </a:r>
            <a:r>
              <a:rPr lang="fr-FR" altLang="fr-FR" sz="3200" dirty="0" smtClean="0">
                <a:latin typeface="Times New Roman" panose="02020603050405020304" pitchFamily="18" charset="0"/>
                <a:cs typeface="Times New Roman" panose="02020603050405020304" pitchFamily="18" charset="0"/>
              </a:rPr>
              <a:t> Concevoir ou produire un travail original en combinant des éléments (assembler, concevoir, imaginer)</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indent="0" algn="just">
              <a:lnSpc>
                <a:spcPct val="150000"/>
              </a:lnSpc>
              <a:buNone/>
            </a:pPr>
            <a:endParaRPr lang="fr-FR" sz="3200" dirty="0" smtClean="0">
              <a:latin typeface="Times New Roman" panose="02020603050405020304" pitchFamily="18" charset="0"/>
              <a:cs typeface="Times New Roman" panose="02020603050405020304" pitchFamily="18" charset="0"/>
            </a:endParaRPr>
          </a:p>
          <a:p>
            <a:pPr marL="0" indent="0" algn="just">
              <a:lnSpc>
                <a:spcPct val="150000"/>
              </a:lnSpc>
              <a:buNone/>
            </a:pPr>
            <a:endParaRPr lang="fr-CM" sz="3200" dirty="0" smtClean="0">
              <a:latin typeface="Times New Roman" panose="02020603050405020304" pitchFamily="18" charset="0"/>
              <a:cs typeface="Times New Roman" panose="02020603050405020304" pitchFamily="18" charset="0"/>
            </a:endParaRPr>
          </a:p>
          <a:p>
            <a:pPr marL="0" indent="0" algn="just">
              <a:lnSpc>
                <a:spcPct val="150000"/>
              </a:lnSpc>
              <a:buNone/>
            </a:pPr>
            <a:endParaRPr lang="fr-CM"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30503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rot="10800000" flipV="1">
            <a:off x="902682" y="1136073"/>
            <a:ext cx="10790554" cy="4985370"/>
          </a:xfrm>
        </p:spPr>
        <p:txBody>
          <a:bodyPr>
            <a:normAutofit/>
          </a:bodyPr>
          <a:lstStyle/>
          <a:p>
            <a:pPr marL="0" indent="0" algn="just">
              <a:lnSpc>
                <a:spcPct val="200000"/>
              </a:lnSpc>
              <a:buNone/>
            </a:pPr>
            <a:r>
              <a:rPr lang="fr-FR" sz="2800" dirty="0" smtClean="0">
                <a:latin typeface="Times New Roman" panose="02020603050405020304" pitchFamily="18" charset="0"/>
                <a:cs typeface="Times New Roman" panose="02020603050405020304" pitchFamily="18" charset="0"/>
              </a:rPr>
              <a:t>	La taxonomie de Bloom est d’une utilité pédagogique évidente:</a:t>
            </a:r>
          </a:p>
          <a:p>
            <a:pPr marL="0" lvl="0" indent="0" algn="just" eaLnBrk="0" fontAlgn="base" hangingPunct="0">
              <a:lnSpc>
                <a:spcPct val="200000"/>
              </a:lnSpc>
              <a:spcBef>
                <a:spcPct val="0"/>
              </a:spcBef>
              <a:spcAft>
                <a:spcPct val="0"/>
              </a:spcAft>
              <a:buFontTx/>
              <a:buChar char="•"/>
            </a:pPr>
            <a:r>
              <a:rPr lang="fr-FR" altLang="fr-FR" sz="2800" b="1" dirty="0">
                <a:latin typeface="Times New Roman" panose="02020603050405020304" pitchFamily="18" charset="0"/>
                <a:cs typeface="Times New Roman" panose="02020603050405020304" pitchFamily="18" charset="0"/>
              </a:rPr>
              <a:t>Objectifs mesurables :</a:t>
            </a:r>
            <a:r>
              <a:rPr lang="fr-FR" altLang="fr-FR" sz="2800" dirty="0">
                <a:latin typeface="Times New Roman" panose="02020603050405020304" pitchFamily="18" charset="0"/>
                <a:cs typeface="Times New Roman" panose="02020603050405020304" pitchFamily="18" charset="0"/>
              </a:rPr>
              <a:t> Aide à rédiger des objectifs d'apprentissage précis grâce à des verbes d'action adaptés à chaque niveau.</a:t>
            </a:r>
            <a:endPar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lvl="0" indent="0" algn="just" eaLnBrk="0" fontAlgn="base" hangingPunct="0">
              <a:lnSpc>
                <a:spcPct val="200000"/>
              </a:lnSpc>
              <a:spcBef>
                <a:spcPct val="0"/>
              </a:spcBef>
              <a:spcAft>
                <a:spcPct val="0"/>
              </a:spcAft>
              <a:buFontTx/>
              <a:buChar char="•"/>
            </a:pPr>
            <a:r>
              <a:rPr lang="fr-FR" altLang="fr-FR" sz="2800" b="1" dirty="0">
                <a:latin typeface="Times New Roman" panose="02020603050405020304" pitchFamily="18" charset="0"/>
                <a:cs typeface="Times New Roman" panose="02020603050405020304" pitchFamily="18" charset="0"/>
              </a:rPr>
              <a:t>Progression logique :</a:t>
            </a:r>
            <a:r>
              <a:rPr lang="fr-FR" altLang="fr-FR" sz="2800" dirty="0">
                <a:latin typeface="Times New Roman" panose="02020603050405020304" pitchFamily="18" charset="0"/>
                <a:cs typeface="Times New Roman" panose="02020603050405020304" pitchFamily="18" charset="0"/>
              </a:rPr>
              <a:t> Permet de structurer un cours ou un parcours de formation du niveau de pensée le plus basique vers le plus avancé</a:t>
            </a:r>
            <a:endPar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indent="0" algn="just">
              <a:lnSpc>
                <a:spcPct val="200000"/>
              </a:lnSpc>
              <a:buNone/>
            </a:pPr>
            <a:endParaRPr lang="fr-FR" sz="2800" dirty="0" smtClean="0">
              <a:latin typeface="Times New Roman" panose="02020603050405020304" pitchFamily="18" charset="0"/>
              <a:cs typeface="Times New Roman" panose="02020603050405020304" pitchFamily="18" charset="0"/>
            </a:endParaRPr>
          </a:p>
          <a:p>
            <a:pPr marL="0" indent="0" algn="just">
              <a:lnSpc>
                <a:spcPct val="200000"/>
              </a:lnSpc>
              <a:buNone/>
            </a:pPr>
            <a:endParaRPr lang="fr-CM"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6867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95927" y="624110"/>
            <a:ext cx="10608685" cy="1280890"/>
          </a:xfrm>
        </p:spPr>
        <p:txBody>
          <a:bodyPr/>
          <a:lstStyle/>
          <a:p>
            <a:pPr algn="ctr"/>
            <a:r>
              <a:rPr lang="fr-FR" b="1" dirty="0" smtClean="0">
                <a:latin typeface="Times New Roman" panose="02020603050405020304" pitchFamily="18" charset="0"/>
                <a:cs typeface="Times New Roman" panose="02020603050405020304" pitchFamily="18" charset="0"/>
              </a:rPr>
              <a:t>LA SCENARISATION D’UN CONTENU EN LIGNE</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489528" y="2603500"/>
            <a:ext cx="11176000" cy="3416300"/>
          </a:xfrm>
        </p:spPr>
        <p:txBody>
          <a:bodyPr>
            <a:normAutofit/>
          </a:bodyPr>
          <a:lstStyle/>
          <a:p>
            <a:pPr marL="0" indent="0" algn="just">
              <a:lnSpc>
                <a:spcPct val="150000"/>
              </a:lnSpc>
              <a:buNone/>
            </a:pPr>
            <a:r>
              <a:rPr lang="fr-FR" sz="3600" dirty="0" smtClean="0">
                <a:latin typeface="Times New Roman" panose="02020603050405020304" pitchFamily="18" charset="0"/>
                <a:cs typeface="Times New Roman" panose="02020603050405020304" pitchFamily="18" charset="0"/>
              </a:rPr>
              <a:t>		La </a:t>
            </a:r>
            <a:r>
              <a:rPr lang="fr-FR" sz="3600" dirty="0">
                <a:latin typeface="Times New Roman" panose="02020603050405020304" pitchFamily="18" charset="0"/>
                <a:cs typeface="Times New Roman" panose="02020603050405020304" pitchFamily="18" charset="0"/>
              </a:rPr>
              <a:t>scénarisation d'un </a:t>
            </a:r>
            <a:r>
              <a:rPr lang="fr-FR" sz="3600" dirty="0" smtClean="0">
                <a:latin typeface="Times New Roman" panose="02020603050405020304" pitchFamily="18" charset="0"/>
                <a:cs typeface="Times New Roman" panose="02020603050405020304" pitchFamily="18" charset="0"/>
              </a:rPr>
              <a:t>contenu </a:t>
            </a:r>
            <a:r>
              <a:rPr lang="fr-FR" sz="3600" dirty="0">
                <a:latin typeface="Times New Roman" panose="02020603050405020304" pitchFamily="18" charset="0"/>
                <a:cs typeface="Times New Roman" panose="02020603050405020304" pitchFamily="18" charset="0"/>
              </a:rPr>
              <a:t>en ligne</a:t>
            </a:r>
            <a:r>
              <a:rPr lang="fr-FR" sz="3600" dirty="0">
                <a:latin typeface="Times New Roman" panose="02020603050405020304" pitchFamily="18" charset="0"/>
                <a:cs typeface="Times New Roman" panose="02020603050405020304" pitchFamily="18" charset="0"/>
              </a:rPr>
              <a:t> consiste à organiser et découper les contenus </a:t>
            </a:r>
            <a:r>
              <a:rPr lang="fr-FR" sz="3600" dirty="0" smtClean="0">
                <a:latin typeface="Times New Roman" panose="02020603050405020304" pitchFamily="18" charset="0"/>
                <a:cs typeface="Times New Roman" panose="02020603050405020304" pitchFamily="18" charset="0"/>
              </a:rPr>
              <a:t>numériques </a:t>
            </a:r>
            <a:r>
              <a:rPr lang="fr-FR" sz="3600" dirty="0">
                <a:latin typeface="Times New Roman" panose="02020603050405020304" pitchFamily="18" charset="0"/>
                <a:cs typeface="Times New Roman" panose="02020603050405020304" pitchFamily="18" charset="0"/>
              </a:rPr>
              <a:t>à</a:t>
            </a:r>
            <a:r>
              <a:rPr lang="fr-FR" sz="3600" dirty="0" smtClean="0">
                <a:latin typeface="Times New Roman" panose="02020603050405020304" pitchFamily="18" charset="0"/>
                <a:cs typeface="Times New Roman" panose="02020603050405020304" pitchFamily="18" charset="0"/>
              </a:rPr>
              <a:t> produire </a:t>
            </a:r>
            <a:r>
              <a:rPr lang="fr-FR" sz="3600" dirty="0">
                <a:latin typeface="Times New Roman" panose="02020603050405020304" pitchFamily="18" charset="0"/>
                <a:cs typeface="Times New Roman" panose="02020603050405020304" pitchFamily="18" charset="0"/>
              </a:rPr>
              <a:t>en séquences rythmées et interactives pour guider </a:t>
            </a:r>
            <a:r>
              <a:rPr lang="fr-FR" sz="3600" dirty="0" smtClean="0">
                <a:latin typeface="Times New Roman" panose="02020603050405020304" pitchFamily="18" charset="0"/>
                <a:cs typeface="Times New Roman" panose="02020603050405020304" pitchFamily="18" charset="0"/>
              </a:rPr>
              <a:t>l‘utilisateur </a:t>
            </a:r>
            <a:r>
              <a:rPr lang="fr-FR" sz="3600" dirty="0">
                <a:latin typeface="Times New Roman" panose="02020603050405020304" pitchFamily="18" charset="0"/>
                <a:cs typeface="Times New Roman" panose="02020603050405020304" pitchFamily="18" charset="0"/>
              </a:rPr>
              <a:t>pas à pas vers la réussite de ses </a:t>
            </a:r>
            <a:r>
              <a:rPr lang="fr-FR" sz="3600" dirty="0" smtClean="0">
                <a:latin typeface="Times New Roman" panose="02020603050405020304" pitchFamily="18" charset="0"/>
                <a:cs typeface="Times New Roman" panose="02020603050405020304" pitchFamily="18" charset="0"/>
              </a:rPr>
              <a:t>objectifs.</a:t>
            </a:r>
            <a:endParaRPr lang="fr-CM"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52369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28436" y="665018"/>
            <a:ext cx="10594109" cy="969432"/>
          </a:xfrm>
        </p:spPr>
        <p:txBody>
          <a:bodyPr>
            <a:normAutofit fontScale="90000"/>
          </a:bodyPr>
          <a:lstStyle/>
          <a:p>
            <a:pPr algn="ctr"/>
            <a:r>
              <a:rPr lang="fr-FR" sz="4000" b="1" dirty="0" smtClean="0">
                <a:latin typeface="Times New Roman" panose="02020603050405020304" pitchFamily="18" charset="0"/>
                <a:cs typeface="Times New Roman" panose="02020603050405020304" pitchFamily="18" charset="0"/>
              </a:rPr>
              <a:t>LES ÉTAPES CLÉS DE LA SCÉNARISATION DE CONTENUS</a:t>
            </a:r>
            <a:endParaRPr lang="fr-CM" sz="4000"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1127246" y="1929281"/>
            <a:ext cx="1041461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Il existe 04 principales étapes clés y afférentes:</a:t>
            </a:r>
          </a:p>
          <a:p>
            <a:pPr marL="0" marR="0" lvl="0" indent="0" algn="just" defTabSz="914400" rtl="0" eaLnBrk="0" fontAlgn="base" latinLnBrk="0" hangingPunct="0">
              <a:lnSpc>
                <a:spcPct val="150000"/>
              </a:lnSpc>
              <a:spcBef>
                <a:spcPct val="0"/>
              </a:spcBef>
              <a:spcAft>
                <a:spcPct val="0"/>
              </a:spcAft>
              <a:buClrTx/>
              <a:buSzTx/>
              <a:buNone/>
              <a:tabLst/>
            </a:pPr>
            <a:r>
              <a:rPr kumimoji="0" lang="fr-FR" altLang="fr-FR" sz="3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Analyser les besoins :</a:t>
            </a:r>
            <a:r>
              <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Définir les objectifs d'apprentissage, le public cible, le format et le contexte de la formation.</a:t>
            </a:r>
          </a:p>
          <a:p>
            <a:pPr marL="0" marR="0" lvl="0" indent="0" algn="just" defTabSz="914400" rtl="0" eaLnBrk="0" fontAlgn="base" latinLnBrk="0" hangingPunct="0">
              <a:lnSpc>
                <a:spcPct val="150000"/>
              </a:lnSpc>
              <a:spcBef>
                <a:spcPct val="0"/>
              </a:spcBef>
              <a:spcAft>
                <a:spcPct val="0"/>
              </a:spcAft>
              <a:buClrTx/>
              <a:buSzTx/>
              <a:buNone/>
              <a:tabLst/>
            </a:pPr>
            <a:r>
              <a:rPr kumimoji="0" lang="fr-FR" altLang="fr-FR" sz="3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Créer le synopsis :</a:t>
            </a:r>
            <a:r>
              <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Rédiger le plan global qui résume les grands modules, les chapitres et les méthodes d'évaluation.</a:t>
            </a:r>
          </a:p>
        </p:txBody>
      </p:sp>
    </p:spTree>
    <p:extLst>
      <p:ext uri="{BB962C8B-B14F-4D97-AF65-F5344CB8AC3E}">
        <p14:creationId xmlns:p14="http://schemas.microsoft.com/office/powerpoint/2010/main" val="20395877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154954" y="2603500"/>
            <a:ext cx="10492101" cy="3416300"/>
          </a:xfrm>
        </p:spPr>
        <p:txBody>
          <a:bodyPr>
            <a:normAutofit lnSpcReduction="10000"/>
          </a:bodyPr>
          <a:lstStyle/>
          <a:p>
            <a:pPr marL="0" lvl="0" indent="0" algn="just" defTabSz="914400" eaLnBrk="0" fontAlgn="base" hangingPunct="0">
              <a:lnSpc>
                <a:spcPct val="200000"/>
              </a:lnSpc>
              <a:spcBef>
                <a:spcPct val="0"/>
              </a:spcBef>
              <a:spcAft>
                <a:spcPct val="0"/>
              </a:spcAft>
              <a:buClrTx/>
              <a:buSzTx/>
              <a:buNone/>
            </a:pPr>
            <a:r>
              <a:rPr lang="fr-FR" altLang="fr-FR" sz="2800" b="1" dirty="0" smtClean="0">
                <a:solidFill>
                  <a:schemeClr val="tx1"/>
                </a:solidFill>
                <a:latin typeface="Times New Roman" panose="02020603050405020304" pitchFamily="18" charset="0"/>
                <a:cs typeface="Times New Roman" panose="02020603050405020304" pitchFamily="18" charset="0"/>
              </a:rPr>
              <a:t>- Découper </a:t>
            </a:r>
            <a:r>
              <a:rPr lang="fr-FR" altLang="fr-FR" sz="2800" b="1" dirty="0">
                <a:solidFill>
                  <a:schemeClr val="tx1"/>
                </a:solidFill>
                <a:latin typeface="Times New Roman" panose="02020603050405020304" pitchFamily="18" charset="0"/>
                <a:cs typeface="Times New Roman" panose="02020603050405020304" pitchFamily="18" charset="0"/>
              </a:rPr>
              <a:t>en grains pédagogiques :</a:t>
            </a:r>
            <a:r>
              <a:rPr lang="fr-FR" altLang="fr-FR" sz="2800" dirty="0">
                <a:solidFill>
                  <a:schemeClr val="tx1"/>
                </a:solidFill>
                <a:latin typeface="Times New Roman" panose="02020603050405020304" pitchFamily="18" charset="0"/>
                <a:cs typeface="Times New Roman" panose="02020603050405020304" pitchFamily="18" charset="0"/>
              </a:rPr>
              <a:t> Fractionner le contenu en petites unités faciles à assimiler (capsules vidéo, textes courts, quiz).</a:t>
            </a:r>
          </a:p>
          <a:p>
            <a:pPr marL="0" lvl="0" indent="0" algn="just" defTabSz="914400" eaLnBrk="0" fontAlgn="base" hangingPunct="0">
              <a:lnSpc>
                <a:spcPct val="200000"/>
              </a:lnSpc>
              <a:spcBef>
                <a:spcPct val="0"/>
              </a:spcBef>
              <a:spcAft>
                <a:spcPct val="0"/>
              </a:spcAft>
              <a:buClrTx/>
              <a:buSzTx/>
              <a:buNone/>
            </a:pPr>
            <a:r>
              <a:rPr lang="fr-FR" altLang="fr-FR" sz="2800" b="1" dirty="0" smtClean="0">
                <a:solidFill>
                  <a:schemeClr val="tx1"/>
                </a:solidFill>
                <a:latin typeface="Times New Roman" panose="02020603050405020304" pitchFamily="18" charset="0"/>
                <a:cs typeface="Times New Roman" panose="02020603050405020304" pitchFamily="18" charset="0"/>
              </a:rPr>
              <a:t>- Rédiger </a:t>
            </a:r>
            <a:r>
              <a:rPr lang="fr-FR" altLang="fr-FR" sz="2800" b="1" dirty="0">
                <a:solidFill>
                  <a:schemeClr val="tx1"/>
                </a:solidFill>
                <a:latin typeface="Times New Roman" panose="02020603050405020304" pitchFamily="18" charset="0"/>
                <a:cs typeface="Times New Roman" panose="02020603050405020304" pitchFamily="18" charset="0"/>
              </a:rPr>
              <a:t>le </a:t>
            </a:r>
            <a:r>
              <a:rPr lang="fr-FR" altLang="fr-FR" sz="2800" b="1" dirty="0" smtClean="0">
                <a:solidFill>
                  <a:schemeClr val="tx1"/>
                </a:solidFill>
                <a:latin typeface="Times New Roman" panose="02020603050405020304" pitchFamily="18" charset="0"/>
                <a:cs typeface="Times New Roman" panose="02020603050405020304" pitchFamily="18" charset="0"/>
              </a:rPr>
              <a:t>story-board </a:t>
            </a:r>
            <a:r>
              <a:rPr lang="fr-FR" altLang="fr-FR" sz="2800" b="1" dirty="0">
                <a:solidFill>
                  <a:schemeClr val="tx1"/>
                </a:solidFill>
                <a:latin typeface="Times New Roman" panose="02020603050405020304" pitchFamily="18" charset="0"/>
                <a:cs typeface="Times New Roman" panose="02020603050405020304" pitchFamily="18" charset="0"/>
              </a:rPr>
              <a:t>:</a:t>
            </a:r>
            <a:r>
              <a:rPr lang="fr-FR" altLang="fr-FR" sz="2800" dirty="0">
                <a:solidFill>
                  <a:schemeClr val="tx1"/>
                </a:solidFill>
                <a:latin typeface="Times New Roman" panose="02020603050405020304" pitchFamily="18" charset="0"/>
                <a:cs typeface="Times New Roman" panose="02020603050405020304" pitchFamily="18" charset="0"/>
              </a:rPr>
              <a:t> Établir le déroulé écran par écran en y intégrant les médias, les interactions, les consignes et les durées</a:t>
            </a:r>
          </a:p>
          <a:p>
            <a:pPr marL="0" indent="0" algn="just">
              <a:lnSpc>
                <a:spcPct val="200000"/>
              </a:lnSpc>
              <a:buNone/>
            </a:pPr>
            <a:endParaRPr lang="fr-CM" sz="2800" dirty="0">
              <a:latin typeface="Times New Roman" panose="02020603050405020304" pitchFamily="18" charset="0"/>
              <a:cs typeface="Times New Roman" panose="02020603050405020304" pitchFamily="18" charset="0"/>
            </a:endParaRPr>
          </a:p>
        </p:txBody>
      </p:sp>
      <p:sp>
        <p:nvSpPr>
          <p:cNvPr id="4" name="Titre 1"/>
          <p:cNvSpPr>
            <a:spLocks noGrp="1"/>
          </p:cNvSpPr>
          <p:nvPr>
            <p:ph type="title"/>
          </p:nvPr>
        </p:nvSpPr>
        <p:spPr>
          <a:xfrm>
            <a:off x="1228436" y="665018"/>
            <a:ext cx="10594109" cy="969432"/>
          </a:xfrm>
        </p:spPr>
        <p:txBody>
          <a:bodyPr>
            <a:normAutofit fontScale="90000"/>
          </a:bodyPr>
          <a:lstStyle/>
          <a:p>
            <a:pPr algn="ctr"/>
            <a:r>
              <a:rPr lang="fr-FR" sz="4000" b="1" dirty="0" smtClean="0">
                <a:latin typeface="Times New Roman" panose="02020603050405020304" pitchFamily="18" charset="0"/>
                <a:cs typeface="Times New Roman" panose="02020603050405020304" pitchFamily="18" charset="0"/>
              </a:rPr>
              <a:t>LES ÉTAPES CLÉS DE LA SCÉNARISATION DE CONTENUS</a:t>
            </a:r>
            <a:endParaRPr lang="fr-CM"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4780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01965" y="420910"/>
            <a:ext cx="10802648" cy="807526"/>
          </a:xfrm>
        </p:spPr>
        <p:txBody>
          <a:bodyPr/>
          <a:lstStyle/>
          <a:p>
            <a:pPr algn="ctr"/>
            <a:r>
              <a:rPr lang="fr-FR" b="1" dirty="0" smtClean="0">
                <a:latin typeface="Times New Roman" panose="02020603050405020304" pitchFamily="18" charset="0"/>
                <a:cs typeface="Times New Roman" panose="02020603050405020304" pitchFamily="18" charset="0"/>
              </a:rPr>
              <a:t>ERGONOMIE ET ACCESSIBILITE </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385980" y="1228436"/>
            <a:ext cx="11434618" cy="3416300"/>
          </a:xfrm>
        </p:spPr>
        <p:txBody>
          <a:bodyPr>
            <a:noAutofit/>
          </a:bodyPr>
          <a:lstStyle/>
          <a:p>
            <a:pPr marL="0" indent="0" algn="just">
              <a:lnSpc>
                <a:spcPct val="150000"/>
              </a:lnSpc>
              <a:buNone/>
            </a:pPr>
            <a:r>
              <a:rPr lang="fr-FR" sz="2300" dirty="0" smtClean="0">
                <a:latin typeface="Times New Roman" panose="02020603050405020304" pitchFamily="18" charset="0"/>
                <a:cs typeface="Times New Roman" panose="02020603050405020304" pitchFamily="18" charset="0"/>
              </a:rPr>
              <a:t>	L’ergonomie </a:t>
            </a:r>
            <a:r>
              <a:rPr lang="fr-FR" sz="2300" dirty="0">
                <a:latin typeface="Times New Roman" panose="02020603050405020304" pitchFamily="18" charset="0"/>
                <a:cs typeface="Times New Roman" panose="02020603050405020304" pitchFamily="18" charset="0"/>
              </a:rPr>
              <a:t>et l'accessibilité numérique</a:t>
            </a:r>
            <a:r>
              <a:rPr lang="fr-FR" sz="2300" dirty="0">
                <a:latin typeface="Times New Roman" panose="02020603050405020304" pitchFamily="18" charset="0"/>
                <a:cs typeface="Times New Roman" panose="02020603050405020304" pitchFamily="18" charset="0"/>
              </a:rPr>
              <a:t> sont deux piliers indispensables pour garantir une expérience utilisateur inclusive, fluide et </a:t>
            </a:r>
            <a:r>
              <a:rPr lang="fr-FR" sz="2300" dirty="0" smtClean="0">
                <a:latin typeface="Times New Roman" panose="02020603050405020304" pitchFamily="18" charset="0"/>
                <a:cs typeface="Times New Roman" panose="02020603050405020304" pitchFamily="18" charset="0"/>
              </a:rPr>
              <a:t>efficace. Elles servent </a:t>
            </a:r>
            <a:r>
              <a:rPr lang="fr-FR" sz="2300" dirty="0">
                <a:latin typeface="Times New Roman" panose="02020603050405020304" pitchFamily="18" charset="0"/>
                <a:cs typeface="Times New Roman" panose="02020603050405020304" pitchFamily="18" charset="0"/>
              </a:rPr>
              <a:t>à concevoir des contenus en ligne clairs, rapides, compréhensibles et utilisables par </a:t>
            </a:r>
            <a:r>
              <a:rPr lang="fr-FR" sz="2300" dirty="0" smtClean="0">
                <a:latin typeface="Times New Roman" panose="02020603050405020304" pitchFamily="18" charset="0"/>
                <a:cs typeface="Times New Roman" panose="02020603050405020304" pitchFamily="18" charset="0"/>
              </a:rPr>
              <a:t>tous.</a:t>
            </a:r>
          </a:p>
          <a:p>
            <a:pPr marL="0" indent="0" algn="just">
              <a:lnSpc>
                <a:spcPct val="150000"/>
              </a:lnSpc>
              <a:buNone/>
            </a:pPr>
            <a:r>
              <a:rPr lang="fr-FR" sz="2300" dirty="0" smtClean="0">
                <a:latin typeface="Times New Roman" panose="02020603050405020304" pitchFamily="18" charset="0"/>
                <a:cs typeface="Times New Roman" panose="02020603050405020304" pitchFamily="18" charset="0"/>
              </a:rPr>
              <a:t>	Ceci étant, l'ergonomie </a:t>
            </a:r>
            <a:r>
              <a:rPr lang="fr-FR" sz="2300" dirty="0">
                <a:latin typeface="Times New Roman" panose="02020603050405020304" pitchFamily="18" charset="0"/>
                <a:cs typeface="Times New Roman" panose="02020603050405020304" pitchFamily="18" charset="0"/>
              </a:rPr>
              <a:t>adapte les outils et les environnements à l'humain, tandis que l'</a:t>
            </a:r>
            <a:r>
              <a:rPr lang="fr-FR" sz="2300" b="1" dirty="0">
                <a:latin typeface="Times New Roman" panose="02020603050405020304" pitchFamily="18" charset="0"/>
                <a:cs typeface="Times New Roman" panose="02020603050405020304" pitchFamily="18" charset="0"/>
              </a:rPr>
              <a:t>accessibilité</a:t>
            </a:r>
            <a:r>
              <a:rPr lang="fr-FR" sz="2300" dirty="0">
                <a:latin typeface="Times New Roman" panose="02020603050405020304" pitchFamily="18" charset="0"/>
                <a:cs typeface="Times New Roman" panose="02020603050405020304" pitchFamily="18" charset="0"/>
              </a:rPr>
              <a:t> garantit l'accès libre à ces mêmes espaces, services ou outils pour tout le monde, sans exclusion ni </a:t>
            </a:r>
            <a:r>
              <a:rPr lang="fr-FR" sz="2300" dirty="0" smtClean="0">
                <a:latin typeface="Times New Roman" panose="02020603050405020304" pitchFamily="18" charset="0"/>
                <a:cs typeface="Times New Roman" panose="02020603050405020304" pitchFamily="18" charset="0"/>
              </a:rPr>
              <a:t>obstacle.</a:t>
            </a:r>
          </a:p>
          <a:p>
            <a:pPr marL="0" indent="0" algn="just">
              <a:lnSpc>
                <a:spcPct val="150000"/>
              </a:lnSpc>
              <a:buNone/>
            </a:pPr>
            <a:r>
              <a:rPr lang="fr-FR" sz="2300" dirty="0" smtClean="0">
                <a:latin typeface="Times New Roman" panose="02020603050405020304" pitchFamily="18" charset="0"/>
                <a:cs typeface="Times New Roman" panose="02020603050405020304" pitchFamily="18" charset="0"/>
              </a:rPr>
              <a:t>	Ces deux notions sont complémentaires et s’appuient très fortement sur les </a:t>
            </a:r>
            <a:r>
              <a:rPr lang="fr-FR" sz="2300" b="1" dirty="0" smtClean="0">
                <a:latin typeface="Times New Roman" panose="02020603050405020304" pitchFamily="18" charset="0"/>
                <a:cs typeface="Times New Roman" panose="02020603050405020304" pitchFamily="18" charset="0"/>
              </a:rPr>
              <a:t>WCAG </a:t>
            </a:r>
            <a:r>
              <a:rPr lang="fr-FR" sz="2300" dirty="0" smtClean="0">
                <a:latin typeface="Times New Roman" panose="02020603050405020304" pitchFamily="18" charset="0"/>
                <a:cs typeface="Times New Roman" panose="02020603050405020304" pitchFamily="18" charset="0"/>
              </a:rPr>
              <a:t>(</a:t>
            </a:r>
            <a:r>
              <a:rPr lang="fr-FR" sz="2300" b="1" dirty="0" smtClean="0">
                <a:latin typeface="Times New Roman" panose="02020603050405020304" pitchFamily="18" charset="0"/>
                <a:cs typeface="Times New Roman" panose="02020603050405020304" pitchFamily="18" charset="0"/>
              </a:rPr>
              <a:t>W</a:t>
            </a:r>
            <a:r>
              <a:rPr lang="fr-FR" sz="2300" dirty="0" smtClean="0">
                <a:latin typeface="Times New Roman" panose="02020603050405020304" pitchFamily="18" charset="0"/>
                <a:cs typeface="Times New Roman" panose="02020603050405020304" pitchFamily="18" charset="0"/>
              </a:rPr>
              <a:t>eb </a:t>
            </a:r>
            <a:r>
              <a:rPr lang="fr-FR" sz="2300" b="1" dirty="0" smtClean="0">
                <a:latin typeface="Times New Roman" panose="02020603050405020304" pitchFamily="18" charset="0"/>
                <a:cs typeface="Times New Roman" panose="02020603050405020304" pitchFamily="18" charset="0"/>
              </a:rPr>
              <a:t>C</a:t>
            </a:r>
            <a:r>
              <a:rPr lang="fr-FR" sz="2300" dirty="0" smtClean="0">
                <a:latin typeface="Times New Roman" panose="02020603050405020304" pitchFamily="18" charset="0"/>
                <a:cs typeface="Times New Roman" panose="02020603050405020304" pitchFamily="18" charset="0"/>
              </a:rPr>
              <a:t>ontent </a:t>
            </a:r>
            <a:r>
              <a:rPr lang="fr-FR" sz="2300" b="1" dirty="0" smtClean="0">
                <a:latin typeface="Times New Roman" panose="02020603050405020304" pitchFamily="18" charset="0"/>
                <a:cs typeface="Times New Roman" panose="02020603050405020304" pitchFamily="18" charset="0"/>
              </a:rPr>
              <a:t>A</a:t>
            </a:r>
            <a:r>
              <a:rPr lang="fr-FR" sz="2300" dirty="0" smtClean="0">
                <a:latin typeface="Times New Roman" panose="02020603050405020304" pitchFamily="18" charset="0"/>
                <a:cs typeface="Times New Roman" panose="02020603050405020304" pitchFamily="18" charset="0"/>
              </a:rPr>
              <a:t>ccessibility </a:t>
            </a:r>
            <a:r>
              <a:rPr lang="fr-FR" sz="2300" b="1" dirty="0" smtClean="0">
                <a:latin typeface="Times New Roman" panose="02020603050405020304" pitchFamily="18" charset="0"/>
                <a:cs typeface="Times New Roman" panose="02020603050405020304" pitchFamily="18" charset="0"/>
              </a:rPr>
              <a:t>G</a:t>
            </a:r>
            <a:r>
              <a:rPr lang="fr-FR" sz="2300" dirty="0" smtClean="0">
                <a:latin typeface="Times New Roman" panose="02020603050405020304" pitchFamily="18" charset="0"/>
                <a:cs typeface="Times New Roman" panose="02020603050405020304" pitchFamily="18" charset="0"/>
              </a:rPr>
              <a:t>uidelines) ou règles pour l’accessibilité des contenus web qui sont un ensemble de prescriptions du W3C et qui permettent de simplifier l’accessibilité aux contenus numériques, principalement pour les personnes en situation de handicap.</a:t>
            </a:r>
            <a:endParaRPr lang="fr-CM"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77229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54953" y="539558"/>
            <a:ext cx="9596173" cy="706964"/>
          </a:xfrm>
        </p:spPr>
        <p:txBody>
          <a:bodyPr>
            <a:noAutofit/>
          </a:bodyPr>
          <a:lstStyle/>
          <a:p>
            <a:pPr lvl="0" algn="ctr"/>
            <a:r>
              <a:rPr lang="fr-FR" b="1" dirty="0" smtClean="0">
                <a:latin typeface="Times New Roman" panose="02020603050405020304" pitchFamily="18" charset="0"/>
                <a:cs typeface="Times New Roman" panose="02020603050405020304" pitchFamily="18" charset="0"/>
              </a:rPr>
              <a:t>PRINCIPES UX/UI APPLIQUÉS A </a:t>
            </a:r>
            <a:br>
              <a:rPr lang="fr-FR" b="1" dirty="0" smtClean="0">
                <a:latin typeface="Times New Roman" panose="02020603050405020304" pitchFamily="18" charset="0"/>
                <a:cs typeface="Times New Roman" panose="02020603050405020304" pitchFamily="18" charset="0"/>
              </a:rPr>
            </a:br>
            <a:r>
              <a:rPr lang="fr-FR" altLang="fr-FR" b="1" dirty="0" smtClean="0">
                <a:solidFill>
                  <a:schemeClr val="tx1"/>
                </a:solidFill>
                <a:latin typeface="Times New Roman" panose="02020603050405020304" pitchFamily="18" charset="0"/>
                <a:cs typeface="Times New Roman" panose="02020603050405020304" pitchFamily="18" charset="0"/>
              </a:rPr>
              <a:t>« </a:t>
            </a:r>
            <a:r>
              <a:rPr lang="fr-FR" b="1" dirty="0" smtClean="0">
                <a:latin typeface="Times New Roman" panose="02020603050405020304" pitchFamily="18" charset="0"/>
                <a:cs typeface="Times New Roman" panose="02020603050405020304" pitchFamily="18" charset="0"/>
              </a:rPr>
              <a:t>L’ERGONOMISATION</a:t>
            </a:r>
            <a:r>
              <a:rPr lang="fr-FR" altLang="fr-FR" b="1" dirty="0" smtClean="0">
                <a:solidFill>
                  <a:schemeClr val="tx1"/>
                </a:solidFill>
                <a:latin typeface="Times New Roman" panose="02020603050405020304" pitchFamily="18" charset="0"/>
                <a:cs typeface="Times New Roman" panose="02020603050405020304" pitchFamily="18" charset="0"/>
              </a:rPr>
              <a:t> »</a:t>
            </a:r>
            <a:endParaRPr lang="fr-FR"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406602" y="1873827"/>
            <a:ext cx="11092873" cy="3416300"/>
          </a:xfrm>
        </p:spPr>
        <p:txBody>
          <a:bodyPr>
            <a:noAutofit/>
          </a:bodyPr>
          <a:lstStyle/>
          <a:p>
            <a:pPr marL="0" indent="0" algn="just">
              <a:lnSpc>
                <a:spcPct val="150000"/>
              </a:lnSpc>
              <a:buNone/>
            </a:pPr>
            <a:r>
              <a:rPr lang="fr-FR" sz="2400" dirty="0" smtClean="0">
                <a:latin typeface="Times New Roman" panose="02020603050405020304" pitchFamily="18" charset="0"/>
                <a:cs typeface="Times New Roman" panose="02020603050405020304" pitchFamily="18" charset="0"/>
              </a:rPr>
              <a:t>	L'</a:t>
            </a:r>
            <a:r>
              <a:rPr lang="fr-FR" sz="2400" dirty="0" err="1" smtClean="0">
                <a:latin typeface="Times New Roman" panose="02020603050405020304" pitchFamily="18" charset="0"/>
                <a:cs typeface="Times New Roman" panose="02020603050405020304" pitchFamily="18" charset="0"/>
              </a:rPr>
              <a:t>ergonomisation</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des contenus numériques</a:t>
            </a:r>
            <a:r>
              <a:rPr lang="fr-FR" sz="2400" dirty="0">
                <a:latin typeface="Times New Roman" panose="02020603050405020304" pitchFamily="18" charset="0"/>
                <a:cs typeface="Times New Roman" panose="02020603050405020304" pitchFamily="18" charset="0"/>
              </a:rPr>
              <a:t> consiste à structurer, concevoir et présenter les informations pour optimiser l'utilisabilité, réduire la charge mentale et faciliter la navigation des utilisateurs. Elle s'appuie sur la synergie entre l'</a:t>
            </a:r>
            <a:r>
              <a:rPr lang="fr-FR" sz="2400" b="1" dirty="0">
                <a:latin typeface="Times New Roman" panose="02020603050405020304" pitchFamily="18" charset="0"/>
                <a:cs typeface="Times New Roman" panose="02020603050405020304" pitchFamily="18" charset="0"/>
              </a:rPr>
              <a:t>UX </a:t>
            </a:r>
            <a:r>
              <a:rPr lang="fr-FR" sz="2400" b="1"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qui </a:t>
            </a:r>
            <a:r>
              <a:rPr lang="fr-FR" sz="2400" dirty="0">
                <a:latin typeface="Times New Roman" panose="02020603050405020304" pitchFamily="18" charset="0"/>
                <a:cs typeface="Times New Roman" panose="02020603050405020304" pitchFamily="18" charset="0"/>
              </a:rPr>
              <a:t>cadre l'utilité, le parcours et </a:t>
            </a:r>
            <a:r>
              <a:rPr lang="fr-FR" sz="2400" dirty="0" smtClean="0">
                <a:latin typeface="Times New Roman" panose="02020603050405020304" pitchFamily="18" charset="0"/>
                <a:cs typeface="Times New Roman" panose="02020603050405020304" pitchFamily="18" charset="0"/>
              </a:rPr>
              <a:t>l'architecture) </a:t>
            </a:r>
            <a:r>
              <a:rPr lang="fr-FR" sz="2400" dirty="0">
                <a:latin typeface="Times New Roman" panose="02020603050405020304" pitchFamily="18" charset="0"/>
                <a:cs typeface="Times New Roman" panose="02020603050405020304" pitchFamily="18" charset="0"/>
              </a:rPr>
              <a:t>et l'</a:t>
            </a:r>
            <a:r>
              <a:rPr lang="fr-FR" sz="2400" b="1" dirty="0">
                <a:latin typeface="Times New Roman" panose="02020603050405020304" pitchFamily="18" charset="0"/>
                <a:cs typeface="Times New Roman" panose="02020603050405020304" pitchFamily="18" charset="0"/>
              </a:rPr>
              <a:t>UI </a:t>
            </a:r>
            <a:r>
              <a:rPr lang="fr-FR" sz="2400" dirty="0" smtClean="0">
                <a:latin typeface="Times New Roman" panose="02020603050405020304" pitchFamily="18" charset="0"/>
                <a:cs typeface="Times New Roman" panose="02020603050405020304" pitchFamily="18" charset="0"/>
              </a:rPr>
              <a:t>qui </a:t>
            </a:r>
            <a:r>
              <a:rPr lang="fr-FR" sz="2400" dirty="0">
                <a:latin typeface="Times New Roman" panose="02020603050405020304" pitchFamily="18" charset="0"/>
                <a:cs typeface="Times New Roman" panose="02020603050405020304" pitchFamily="18" charset="0"/>
              </a:rPr>
              <a:t>gère l'esthétique, la clarté et la hiérarchie </a:t>
            </a:r>
            <a:r>
              <a:rPr lang="fr-FR" sz="2400" dirty="0" smtClean="0">
                <a:latin typeface="Times New Roman" panose="02020603050405020304" pitchFamily="18" charset="0"/>
                <a:cs typeface="Times New Roman" panose="02020603050405020304" pitchFamily="18" charset="0"/>
              </a:rPr>
              <a:t>visuelle</a:t>
            </a:r>
          </a:p>
          <a:p>
            <a:pPr marL="0" indent="0" algn="just">
              <a:lnSpc>
                <a:spcPct val="150000"/>
              </a:lnSpc>
              <a:buNone/>
            </a:pPr>
            <a:r>
              <a:rPr lang="fr-FR" sz="2400" dirty="0" smtClean="0">
                <a:latin typeface="Times New Roman" panose="02020603050405020304" pitchFamily="18" charset="0"/>
                <a:cs typeface="Times New Roman" panose="02020603050405020304" pitchFamily="18" charset="0"/>
              </a:rPr>
              <a:t>	Rendre </a:t>
            </a:r>
            <a:r>
              <a:rPr lang="fr-FR" sz="2400" dirty="0">
                <a:latin typeface="Times New Roman" panose="02020603050405020304" pitchFamily="18" charset="0"/>
                <a:cs typeface="Times New Roman" panose="02020603050405020304" pitchFamily="18" charset="0"/>
              </a:rPr>
              <a:t>un contenu numérique performant et agréable à consommer </a:t>
            </a:r>
            <a:r>
              <a:rPr lang="fr-FR" sz="2400" dirty="0" smtClean="0">
                <a:latin typeface="Times New Roman" panose="02020603050405020304" pitchFamily="18" charset="0"/>
                <a:cs typeface="Times New Roman" panose="02020603050405020304" pitchFamily="18" charset="0"/>
              </a:rPr>
              <a:t>implique l’usage des grands </a:t>
            </a:r>
            <a:r>
              <a:rPr lang="fr-FR" sz="2400" dirty="0">
                <a:latin typeface="Times New Roman" panose="02020603050405020304" pitchFamily="18" charset="0"/>
                <a:cs typeface="Times New Roman" panose="02020603050405020304" pitchFamily="18" charset="0"/>
              </a:rPr>
              <a:t>principes UX/UI indispensables </a:t>
            </a:r>
            <a:r>
              <a:rPr lang="fr-FR" sz="2400" dirty="0" smtClean="0">
                <a:latin typeface="Times New Roman" panose="02020603050405020304" pitchFamily="18" charset="0"/>
                <a:cs typeface="Times New Roman" panose="02020603050405020304" pitchFamily="18" charset="0"/>
              </a:rPr>
              <a:t>pour optimiser l’utilisabilité, réduire la charge mentale et faciliter la navigation des utilisateurs</a:t>
            </a:r>
            <a:endParaRPr lang="fr-CM"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25896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6481" y="493377"/>
            <a:ext cx="10159592" cy="706964"/>
          </a:xfrm>
        </p:spPr>
        <p:txBody>
          <a:bodyPr>
            <a:normAutofit fontScale="90000"/>
          </a:bodyPr>
          <a:lstStyle/>
          <a:p>
            <a:pPr algn="ctr"/>
            <a:r>
              <a:rPr lang="fr-FR" b="1" dirty="0" smtClean="0">
                <a:latin typeface="Times New Roman" panose="02020603050405020304" pitchFamily="18" charset="0"/>
                <a:cs typeface="Times New Roman" panose="02020603050405020304" pitchFamily="18" charset="0"/>
              </a:rPr>
              <a:t> PRINCIPES UX/UI DE PERFORMANCE D’UN CONTENU NUMÉRIQUE</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592412" y="1736436"/>
            <a:ext cx="11036170" cy="4627419"/>
          </a:xfrm>
        </p:spPr>
        <p:txBody>
          <a:bodyPr>
            <a:normAutofit/>
          </a:bodyPr>
          <a:lstStyle/>
          <a:p>
            <a:pPr marL="0" indent="0" algn="just">
              <a:lnSpc>
                <a:spcPct val="150000"/>
              </a:lnSpc>
              <a:buNone/>
            </a:pPr>
            <a:r>
              <a:rPr lang="fr-FR" sz="2800" b="1" dirty="0" smtClean="0">
                <a:latin typeface="Times New Roman" panose="02020603050405020304" pitchFamily="18" charset="0"/>
                <a:cs typeface="Times New Roman" panose="02020603050405020304" pitchFamily="18" charset="0"/>
              </a:rPr>
              <a:t>1. Les </a:t>
            </a:r>
            <a:r>
              <a:rPr lang="fr-FR" sz="2800" b="1" dirty="0">
                <a:latin typeface="Times New Roman" panose="02020603050405020304" pitchFamily="18" charset="0"/>
                <a:cs typeface="Times New Roman" panose="02020603050405020304" pitchFamily="18" charset="0"/>
              </a:rPr>
              <a:t>Principes UX </a:t>
            </a:r>
            <a:r>
              <a:rPr lang="fr-FR" sz="2800" b="1" dirty="0" smtClean="0">
                <a:latin typeface="Times New Roman" panose="02020603050405020304" pitchFamily="18" charset="0"/>
                <a:cs typeface="Times New Roman" panose="02020603050405020304" pitchFamily="18" charset="0"/>
              </a:rPr>
              <a:t>Fondamentaux</a:t>
            </a:r>
          </a:p>
          <a:p>
            <a:pPr marL="0" lvl="0" indent="0" algn="just" defTabSz="914400" eaLnBrk="0" fontAlgn="base" hangingPunct="0">
              <a:lnSpc>
                <a:spcPct val="150000"/>
              </a:lnSpc>
              <a:spcBef>
                <a:spcPct val="0"/>
              </a:spcBef>
              <a:spcAft>
                <a:spcPct val="0"/>
              </a:spcAft>
              <a:buClrTx/>
              <a:buSzTx/>
              <a:buFontTx/>
              <a:buChar char="•"/>
            </a:pPr>
            <a:r>
              <a:rPr lang="fr-FR" altLang="fr-FR" sz="2800" b="1" dirty="0" smtClean="0">
                <a:solidFill>
                  <a:schemeClr val="tx1"/>
                </a:solidFill>
                <a:latin typeface="Times New Roman" panose="02020603050405020304" pitchFamily="18" charset="0"/>
                <a:cs typeface="Times New Roman" panose="02020603050405020304" pitchFamily="18" charset="0"/>
              </a:rPr>
              <a:t>Loi </a:t>
            </a:r>
            <a:r>
              <a:rPr lang="fr-FR" altLang="fr-FR" sz="2800" b="1" dirty="0">
                <a:solidFill>
                  <a:schemeClr val="tx1"/>
                </a:solidFill>
                <a:latin typeface="Times New Roman" panose="02020603050405020304" pitchFamily="18" charset="0"/>
                <a:cs typeface="Times New Roman" panose="02020603050405020304" pitchFamily="18" charset="0"/>
              </a:rPr>
              <a:t>de Hicks (Simplification des choix) :</a:t>
            </a:r>
            <a:r>
              <a:rPr lang="fr-FR" altLang="fr-FR" sz="2800" dirty="0">
                <a:solidFill>
                  <a:schemeClr val="tx1"/>
                </a:solidFill>
                <a:latin typeface="Times New Roman" panose="02020603050405020304" pitchFamily="18" charset="0"/>
                <a:cs typeface="Times New Roman" panose="02020603050405020304" pitchFamily="18" charset="0"/>
              </a:rPr>
              <a:t> Il faut fragmenter le contenu en coupant les longs articles en sous-sections digestes. </a:t>
            </a:r>
          </a:p>
          <a:p>
            <a:pPr marL="0" lvl="0" indent="0" algn="just" defTabSz="914400" eaLnBrk="0" fontAlgn="base" hangingPunct="0">
              <a:lnSpc>
                <a:spcPct val="150000"/>
              </a:lnSpc>
              <a:spcBef>
                <a:spcPct val="0"/>
              </a:spcBef>
              <a:spcAft>
                <a:spcPct val="0"/>
              </a:spcAft>
              <a:buClrTx/>
              <a:buSzTx/>
              <a:buFontTx/>
              <a:buChar char="•"/>
            </a:pPr>
            <a:r>
              <a:rPr lang="fr-FR" altLang="fr-FR" sz="2800" b="1" dirty="0">
                <a:solidFill>
                  <a:schemeClr val="tx1"/>
                </a:solidFill>
                <a:latin typeface="Times New Roman" panose="02020603050405020304" pitchFamily="18" charset="0"/>
                <a:cs typeface="Times New Roman" panose="02020603050405020304" pitchFamily="18" charset="0"/>
              </a:rPr>
              <a:t>Divulgation progressive (Progressive </a:t>
            </a:r>
            <a:r>
              <a:rPr lang="fr-FR" altLang="fr-FR" sz="2800" b="1" dirty="0" err="1">
                <a:solidFill>
                  <a:schemeClr val="tx1"/>
                </a:solidFill>
                <a:latin typeface="Times New Roman" panose="02020603050405020304" pitchFamily="18" charset="0"/>
                <a:cs typeface="Times New Roman" panose="02020603050405020304" pitchFamily="18" charset="0"/>
              </a:rPr>
              <a:t>Disclosure</a:t>
            </a:r>
            <a:r>
              <a:rPr lang="fr-FR" altLang="fr-FR" sz="2800" b="1" dirty="0">
                <a:solidFill>
                  <a:schemeClr val="tx1"/>
                </a:solidFill>
                <a:latin typeface="Times New Roman" panose="02020603050405020304" pitchFamily="18" charset="0"/>
                <a:cs typeface="Times New Roman" panose="02020603050405020304" pitchFamily="18" charset="0"/>
              </a:rPr>
              <a:t>) : </a:t>
            </a:r>
            <a:r>
              <a:rPr lang="fr-FR" altLang="fr-FR" sz="2800" dirty="0">
                <a:solidFill>
                  <a:schemeClr val="tx1"/>
                </a:solidFill>
                <a:latin typeface="Times New Roman" panose="02020603050405020304" pitchFamily="18" charset="0"/>
                <a:cs typeface="Times New Roman" panose="02020603050405020304" pitchFamily="18" charset="0"/>
              </a:rPr>
              <a:t>affichage </a:t>
            </a:r>
            <a:r>
              <a:rPr lang="fr-FR" altLang="fr-FR" sz="2800" dirty="0">
                <a:latin typeface="Times New Roman" panose="02020603050405020304" pitchFamily="18" charset="0"/>
                <a:cs typeface="Times New Roman" panose="02020603050405020304" pitchFamily="18" charset="0"/>
              </a:rPr>
              <a:t>d</a:t>
            </a:r>
            <a:r>
              <a:rPr lang="fr-FR" altLang="fr-FR" sz="2800" dirty="0">
                <a:solidFill>
                  <a:schemeClr val="tx1"/>
                </a:solidFill>
                <a:latin typeface="Times New Roman" panose="02020603050405020304" pitchFamily="18" charset="0"/>
                <a:cs typeface="Times New Roman" panose="02020603050405020304" pitchFamily="18" charset="0"/>
              </a:rPr>
              <a:t>es informations essentielles uniquement. Permettez-lui d'accéder aux détails techniques ou secondaires via des info-bulles ou des onglets notamment.</a:t>
            </a:r>
          </a:p>
          <a:p>
            <a:pPr marL="0" indent="0" algn="just">
              <a:lnSpc>
                <a:spcPct val="150000"/>
              </a:lnSpc>
              <a:buNone/>
            </a:pPr>
            <a:endParaRPr lang="fr-CM"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445604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5718" y="428723"/>
            <a:ext cx="9762428" cy="706964"/>
          </a:xfrm>
        </p:spPr>
        <p:txBody>
          <a:bodyPr>
            <a:normAutofit fontScale="90000"/>
          </a:bodyPr>
          <a:lstStyle/>
          <a:p>
            <a:pPr algn="ctr"/>
            <a:r>
              <a:rPr lang="fr-FR" b="1" dirty="0" smtClean="0">
                <a:latin typeface="Times New Roman" panose="02020603050405020304" pitchFamily="18" charset="0"/>
                <a:cs typeface="Times New Roman" panose="02020603050405020304" pitchFamily="18" charset="0"/>
              </a:rPr>
              <a:t>PRINCIPES UX/UI DE PERFORMANCE D’UN CONTENU NUMÉRIQUE</a:t>
            </a:r>
            <a:endParaRPr lang="fr-CM" b="1" dirty="0"/>
          </a:p>
        </p:txBody>
      </p:sp>
      <p:sp>
        <p:nvSpPr>
          <p:cNvPr id="3" name="Espace réservé du contenu 2"/>
          <p:cNvSpPr>
            <a:spLocks noGrp="1"/>
          </p:cNvSpPr>
          <p:nvPr>
            <p:ph idx="1"/>
          </p:nvPr>
        </p:nvSpPr>
        <p:spPr>
          <a:xfrm>
            <a:off x="360218" y="1773382"/>
            <a:ext cx="11166764" cy="4246418"/>
          </a:xfrm>
        </p:spPr>
        <p:txBody>
          <a:bodyPr>
            <a:noAutofit/>
          </a:bodyPr>
          <a:lstStyle/>
          <a:p>
            <a:pPr marL="0" lvl="0" indent="0" algn="just" defTabSz="914400" eaLnBrk="0" fontAlgn="base" hangingPunct="0">
              <a:lnSpc>
                <a:spcPct val="150000"/>
              </a:lnSpc>
              <a:spcBef>
                <a:spcPct val="0"/>
              </a:spcBef>
              <a:spcAft>
                <a:spcPct val="0"/>
              </a:spcAft>
              <a:buClrTx/>
              <a:buSzTx/>
              <a:buFontTx/>
              <a:buChar char="•"/>
            </a:pPr>
            <a:r>
              <a:rPr lang="fr-FR" altLang="fr-FR" sz="2600" b="1" dirty="0" smtClean="0">
                <a:solidFill>
                  <a:schemeClr val="tx1"/>
                </a:solidFill>
                <a:latin typeface="Times New Roman" panose="02020603050405020304" pitchFamily="18" charset="0"/>
                <a:cs typeface="Times New Roman" panose="02020603050405020304" pitchFamily="18" charset="0"/>
              </a:rPr>
              <a:t> Modèles </a:t>
            </a:r>
            <a:r>
              <a:rPr lang="fr-FR" altLang="fr-FR" sz="2600" b="1" dirty="0">
                <a:solidFill>
                  <a:schemeClr val="tx1"/>
                </a:solidFill>
                <a:latin typeface="Times New Roman" panose="02020603050405020304" pitchFamily="18" charset="0"/>
                <a:cs typeface="Times New Roman" panose="02020603050405020304" pitchFamily="18" charset="0"/>
              </a:rPr>
              <a:t>mentaux et conventions :</a:t>
            </a:r>
            <a:r>
              <a:rPr lang="fr-FR" altLang="fr-FR" sz="2600" dirty="0">
                <a:solidFill>
                  <a:schemeClr val="tx1"/>
                </a:solidFill>
                <a:latin typeface="Times New Roman" panose="02020603050405020304" pitchFamily="18" charset="0"/>
                <a:cs typeface="Times New Roman" panose="02020603050405020304" pitchFamily="18" charset="0"/>
              </a:rPr>
              <a:t> Les </a:t>
            </a:r>
            <a:r>
              <a:rPr lang="fr-FR" altLang="fr-FR" sz="2600" dirty="0" smtClean="0">
                <a:solidFill>
                  <a:schemeClr val="tx1"/>
                </a:solidFill>
                <a:latin typeface="Times New Roman" panose="02020603050405020304" pitchFamily="18" charset="0"/>
                <a:cs typeface="Times New Roman" panose="02020603050405020304" pitchFamily="18" charset="0"/>
              </a:rPr>
              <a:t>utilisateurs s'attendent </a:t>
            </a:r>
            <a:r>
              <a:rPr lang="fr-FR" altLang="fr-FR" sz="2600" dirty="0">
                <a:solidFill>
                  <a:schemeClr val="tx1"/>
                </a:solidFill>
                <a:latin typeface="Times New Roman" panose="02020603050405020304" pitchFamily="18" charset="0"/>
                <a:cs typeface="Times New Roman" panose="02020603050405020304" pitchFamily="18" charset="0"/>
              </a:rPr>
              <a:t>à ce que le contenu qui leur sera proposé </a:t>
            </a:r>
            <a:r>
              <a:rPr lang="fr-FR" altLang="fr-FR" sz="2600" dirty="0">
                <a:latin typeface="Times New Roman" panose="02020603050405020304" pitchFamily="18" charset="0"/>
                <a:cs typeface="Times New Roman" panose="02020603050405020304" pitchFamily="18" charset="0"/>
              </a:rPr>
              <a:t>ait la </a:t>
            </a:r>
            <a:r>
              <a:rPr lang="fr-FR" altLang="fr-FR" sz="2600" dirty="0" smtClean="0">
                <a:latin typeface="Times New Roman" panose="02020603050405020304" pitchFamily="18" charset="0"/>
                <a:cs typeface="Times New Roman" panose="02020603050405020304" pitchFamily="18" charset="0"/>
              </a:rPr>
              <a:t>même </a:t>
            </a:r>
            <a:r>
              <a:rPr lang="fr-FR" altLang="fr-FR" sz="2600" dirty="0">
                <a:latin typeface="Times New Roman" panose="02020603050405020304" pitchFamily="18" charset="0"/>
                <a:cs typeface="Times New Roman" panose="02020603050405020304" pitchFamily="18" charset="0"/>
              </a:rPr>
              <a:t>structure que sur les autres plateformes</a:t>
            </a:r>
            <a:r>
              <a:rPr lang="fr-FR" altLang="fr-FR" sz="2600" dirty="0">
                <a:solidFill>
                  <a:schemeClr val="tx1"/>
                </a:solidFill>
                <a:latin typeface="Times New Roman" panose="02020603050405020304" pitchFamily="18" charset="0"/>
                <a:cs typeface="Times New Roman" panose="02020603050405020304" pitchFamily="18" charset="0"/>
              </a:rPr>
              <a:t> (ex. : logo cliquable en haut à gauche pour revenir à l'accueil, menu de navigation standardisé, liens soulignés ou colorés). </a:t>
            </a:r>
          </a:p>
          <a:p>
            <a:pPr marL="0" lvl="0" indent="0" algn="just" defTabSz="914400" eaLnBrk="0" fontAlgn="base" hangingPunct="0">
              <a:lnSpc>
                <a:spcPct val="150000"/>
              </a:lnSpc>
              <a:spcBef>
                <a:spcPct val="0"/>
              </a:spcBef>
              <a:spcAft>
                <a:spcPct val="0"/>
              </a:spcAft>
              <a:buClrTx/>
              <a:buSzTx/>
              <a:buFontTx/>
              <a:buChar char="•"/>
            </a:pPr>
            <a:r>
              <a:rPr lang="fr-FR" altLang="fr-FR" sz="2600" b="1" dirty="0" smtClean="0">
                <a:solidFill>
                  <a:schemeClr val="tx1"/>
                </a:solidFill>
                <a:latin typeface="Times New Roman" panose="02020603050405020304" pitchFamily="18" charset="0"/>
                <a:cs typeface="Times New Roman" panose="02020603050405020304" pitchFamily="18" charset="0"/>
              </a:rPr>
              <a:t> Anticipation </a:t>
            </a:r>
            <a:r>
              <a:rPr lang="fr-FR" altLang="fr-FR" sz="2600" b="1" dirty="0">
                <a:solidFill>
                  <a:schemeClr val="tx1"/>
                </a:solidFill>
                <a:latin typeface="Times New Roman" panose="02020603050405020304" pitchFamily="18" charset="0"/>
                <a:cs typeface="Times New Roman" panose="02020603050405020304" pitchFamily="18" charset="0"/>
              </a:rPr>
              <a:t>du </a:t>
            </a:r>
            <a:r>
              <a:rPr lang="fr-FR" altLang="fr-FR" sz="2600" dirty="0">
                <a:solidFill>
                  <a:schemeClr val="tx1"/>
                </a:solidFill>
                <a:latin typeface="Times New Roman" panose="02020603050405020304" pitchFamily="18" charset="0"/>
                <a:cs typeface="Times New Roman" panose="02020603050405020304" pitchFamily="18" charset="0"/>
              </a:rPr>
              <a:t>« </a:t>
            </a:r>
            <a:r>
              <a:rPr lang="fr-FR" altLang="fr-FR" sz="2600" b="1" dirty="0" smtClean="0">
                <a:solidFill>
                  <a:schemeClr val="tx1"/>
                </a:solidFill>
                <a:latin typeface="Times New Roman" panose="02020603050405020304" pitchFamily="18" charset="0"/>
                <a:cs typeface="Times New Roman" panose="02020603050405020304" pitchFamily="18" charset="0"/>
              </a:rPr>
              <a:t>Scanning</a:t>
            </a:r>
            <a:r>
              <a:rPr lang="fr-FR" altLang="fr-FR" sz="2600" dirty="0">
                <a:solidFill>
                  <a:schemeClr val="tx1"/>
                </a:solidFill>
                <a:latin typeface="Times New Roman" panose="02020603050405020304" pitchFamily="18" charset="0"/>
                <a:cs typeface="Times New Roman" panose="02020603050405020304" pitchFamily="18" charset="0"/>
              </a:rPr>
              <a:t> »</a:t>
            </a:r>
            <a:r>
              <a:rPr lang="fr-FR" altLang="fr-FR" sz="2600" b="1" dirty="0" smtClean="0">
                <a:solidFill>
                  <a:schemeClr val="tx1"/>
                </a:solidFill>
                <a:latin typeface="Times New Roman" panose="02020603050405020304" pitchFamily="18" charset="0"/>
                <a:cs typeface="Times New Roman" panose="02020603050405020304" pitchFamily="18" charset="0"/>
              </a:rPr>
              <a:t> </a:t>
            </a:r>
            <a:r>
              <a:rPr lang="fr-FR" altLang="fr-FR" sz="2600" b="1" dirty="0">
                <a:solidFill>
                  <a:schemeClr val="tx1"/>
                </a:solidFill>
                <a:latin typeface="Times New Roman" panose="02020603050405020304" pitchFamily="18" charset="0"/>
                <a:cs typeface="Times New Roman" panose="02020603050405020304" pitchFamily="18" charset="0"/>
              </a:rPr>
              <a:t>:</a:t>
            </a:r>
            <a:r>
              <a:rPr lang="fr-FR" altLang="fr-FR" sz="2600" dirty="0">
                <a:solidFill>
                  <a:schemeClr val="tx1"/>
                </a:solidFill>
                <a:latin typeface="Times New Roman" panose="02020603050405020304" pitchFamily="18" charset="0"/>
                <a:cs typeface="Times New Roman" panose="02020603050405020304" pitchFamily="18" charset="0"/>
              </a:rPr>
              <a:t> À l'écran, un internaute ne lit pas de manière linéaire : il survole les pages selon une lecture en « F » ou en « Z ». Les éléments clés (titres, mots-clés en gras, débuts de listes) doivent capter le regard immédiatement car l’internaute ne lit pas de manière linéaire</a:t>
            </a:r>
          </a:p>
          <a:p>
            <a:pPr marL="0" indent="0" algn="just">
              <a:lnSpc>
                <a:spcPct val="150000"/>
              </a:lnSpc>
              <a:buNone/>
            </a:pPr>
            <a:endParaRPr lang="fr-CM" sz="2600" dirty="0"/>
          </a:p>
        </p:txBody>
      </p:sp>
    </p:spTree>
    <p:extLst>
      <p:ext uri="{BB962C8B-B14F-4D97-AF65-F5344CB8AC3E}">
        <p14:creationId xmlns:p14="http://schemas.microsoft.com/office/powerpoint/2010/main" val="12946904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043709" y="624110"/>
            <a:ext cx="10460903" cy="1280890"/>
          </a:xfrm>
        </p:spPr>
        <p:txBody>
          <a:bodyPr/>
          <a:lstStyle/>
          <a:p>
            <a:pPr algn="ctr"/>
            <a:r>
              <a:rPr lang="fr-FR" b="1" dirty="0" smtClean="0">
                <a:latin typeface="Times New Roman" panose="02020603050405020304" pitchFamily="18" charset="0"/>
                <a:cs typeface="Times New Roman" panose="02020603050405020304" pitchFamily="18" charset="0"/>
              </a:rPr>
              <a:t>PRINCIPES UX/UI DE PERFORMANCE D’UN CONTENU NUMÉRIQUE</a:t>
            </a:r>
            <a:endParaRPr lang="fr-CM" b="1" dirty="0"/>
          </a:p>
        </p:txBody>
      </p:sp>
      <p:sp>
        <p:nvSpPr>
          <p:cNvPr id="3" name="Espace réservé du contenu 2"/>
          <p:cNvSpPr>
            <a:spLocks noGrp="1"/>
          </p:cNvSpPr>
          <p:nvPr>
            <p:ph idx="1"/>
          </p:nvPr>
        </p:nvSpPr>
        <p:spPr>
          <a:xfrm>
            <a:off x="591127" y="2115127"/>
            <a:ext cx="11009746" cy="4368799"/>
          </a:xfrm>
        </p:spPr>
        <p:txBody>
          <a:bodyPr>
            <a:normAutofit lnSpcReduction="10000"/>
          </a:bodyPr>
          <a:lstStyle/>
          <a:p>
            <a:pPr marL="0" indent="0" algn="just">
              <a:lnSpc>
                <a:spcPct val="150000"/>
              </a:lnSpc>
              <a:buNone/>
            </a:pPr>
            <a:r>
              <a:rPr lang="fr-FR" sz="2800" b="1" dirty="0">
                <a:latin typeface="Times New Roman" panose="02020603050405020304" pitchFamily="18" charset="0"/>
                <a:cs typeface="Times New Roman" panose="02020603050405020304" pitchFamily="18" charset="0"/>
              </a:rPr>
              <a:t>2. Les Principes UI Essentiels (Hiérarchie </a:t>
            </a:r>
            <a:r>
              <a:rPr lang="fr-FR" sz="2800" b="1" dirty="0" smtClean="0">
                <a:latin typeface="Times New Roman" panose="02020603050405020304" pitchFamily="18" charset="0"/>
                <a:cs typeface="Times New Roman" panose="02020603050405020304" pitchFamily="18" charset="0"/>
              </a:rPr>
              <a:t>et rendu visuel)</a:t>
            </a:r>
          </a:p>
          <a:p>
            <a:pPr marL="0" lvl="0" indent="0" algn="just" defTabSz="914400" eaLnBrk="0" fontAlgn="base" hangingPunct="0">
              <a:lnSpc>
                <a:spcPct val="150000"/>
              </a:lnSpc>
              <a:spcBef>
                <a:spcPct val="0"/>
              </a:spcBef>
              <a:spcAft>
                <a:spcPct val="0"/>
              </a:spcAft>
              <a:buClrTx/>
              <a:buSzTx/>
              <a:buNone/>
            </a:pPr>
            <a:r>
              <a:rPr lang="fr-FR" altLang="fr-FR" sz="2800" b="1" dirty="0" smtClean="0">
                <a:solidFill>
                  <a:schemeClr val="tx1"/>
                </a:solidFill>
                <a:latin typeface="Times New Roman" panose="02020603050405020304" pitchFamily="18" charset="0"/>
                <a:cs typeface="Times New Roman" panose="02020603050405020304" pitchFamily="18" charset="0"/>
              </a:rPr>
              <a:t>- Hiérarchie </a:t>
            </a:r>
            <a:r>
              <a:rPr lang="fr-FR" altLang="fr-FR" sz="2800" b="1" dirty="0">
                <a:solidFill>
                  <a:schemeClr val="tx1"/>
                </a:solidFill>
                <a:latin typeface="Times New Roman" panose="02020603050405020304" pitchFamily="18" charset="0"/>
                <a:cs typeface="Times New Roman" panose="02020603050405020304" pitchFamily="18" charset="0"/>
              </a:rPr>
              <a:t>visuelle stricte :</a:t>
            </a:r>
            <a:r>
              <a:rPr lang="fr-FR" altLang="fr-FR" sz="2800" dirty="0">
                <a:solidFill>
                  <a:schemeClr val="tx1"/>
                </a:solidFill>
                <a:latin typeface="Times New Roman" panose="02020603050405020304" pitchFamily="18" charset="0"/>
                <a:cs typeface="Times New Roman" panose="02020603050405020304" pitchFamily="18" charset="0"/>
              </a:rPr>
              <a:t> Elle guide l'œil de l'information la plus importante vers la moins importante. Elle s'articule par :</a:t>
            </a:r>
          </a:p>
          <a:p>
            <a:pPr marL="457200" lvl="1" indent="0" algn="just" defTabSz="914400" eaLnBrk="0" fontAlgn="base" hangingPunct="0">
              <a:lnSpc>
                <a:spcPct val="150000"/>
              </a:lnSpc>
              <a:spcBef>
                <a:spcPct val="0"/>
              </a:spcBef>
              <a:spcAft>
                <a:spcPct val="0"/>
              </a:spcAft>
              <a:buClrTx/>
              <a:buSzTx/>
              <a:buFontTx/>
              <a:buChar char="•"/>
            </a:pPr>
            <a:r>
              <a:rPr lang="fr-FR" altLang="fr-FR" sz="2800" b="1" dirty="0" smtClean="0">
                <a:solidFill>
                  <a:schemeClr val="tx1"/>
                </a:solidFill>
                <a:latin typeface="Times New Roman" panose="02020603050405020304" pitchFamily="18" charset="0"/>
                <a:cs typeface="Times New Roman" panose="02020603050405020304" pitchFamily="18" charset="0"/>
              </a:rPr>
              <a:t> La </a:t>
            </a:r>
            <a:r>
              <a:rPr lang="fr-FR" altLang="fr-FR" sz="2800" b="1" dirty="0">
                <a:solidFill>
                  <a:schemeClr val="tx1"/>
                </a:solidFill>
                <a:latin typeface="Times New Roman" panose="02020603050405020304" pitchFamily="18" charset="0"/>
                <a:cs typeface="Times New Roman" panose="02020603050405020304" pitchFamily="18" charset="0"/>
              </a:rPr>
              <a:t>typographie :</a:t>
            </a:r>
            <a:r>
              <a:rPr lang="fr-FR" altLang="fr-FR" sz="2800" dirty="0">
                <a:solidFill>
                  <a:schemeClr val="tx1"/>
                </a:solidFill>
                <a:latin typeface="Times New Roman" panose="02020603050405020304" pitchFamily="18" charset="0"/>
                <a:cs typeface="Times New Roman" panose="02020603050405020304" pitchFamily="18" charset="0"/>
              </a:rPr>
              <a:t> Utiliser des tailles contrastées et des graisses différentes (H1, H2, H3, paragraphe) pour scander le texte.</a:t>
            </a:r>
          </a:p>
          <a:p>
            <a:pPr marL="457200" lvl="1" indent="0" algn="just" defTabSz="914400" eaLnBrk="0" fontAlgn="base" hangingPunct="0">
              <a:lnSpc>
                <a:spcPct val="150000"/>
              </a:lnSpc>
              <a:spcBef>
                <a:spcPct val="0"/>
              </a:spcBef>
              <a:spcAft>
                <a:spcPct val="0"/>
              </a:spcAft>
              <a:buClrTx/>
              <a:buSzTx/>
              <a:buFontTx/>
              <a:buChar char="•"/>
            </a:pPr>
            <a:r>
              <a:rPr lang="fr-FR" altLang="fr-FR" sz="2800" b="1" dirty="0" smtClean="0">
                <a:solidFill>
                  <a:schemeClr val="tx1"/>
                </a:solidFill>
                <a:latin typeface="Times New Roman" panose="02020603050405020304" pitchFamily="18" charset="0"/>
                <a:cs typeface="Times New Roman" panose="02020603050405020304" pitchFamily="18" charset="0"/>
              </a:rPr>
              <a:t> Les </a:t>
            </a:r>
            <a:r>
              <a:rPr lang="fr-FR" altLang="fr-FR" sz="2800" b="1" dirty="0">
                <a:solidFill>
                  <a:schemeClr val="tx1"/>
                </a:solidFill>
                <a:latin typeface="Times New Roman" panose="02020603050405020304" pitchFamily="18" charset="0"/>
                <a:cs typeface="Times New Roman" panose="02020603050405020304" pitchFamily="18" charset="0"/>
              </a:rPr>
              <a:t>couleurs :</a:t>
            </a:r>
            <a:r>
              <a:rPr lang="fr-FR" altLang="fr-FR" sz="2800" dirty="0">
                <a:solidFill>
                  <a:schemeClr val="tx1"/>
                </a:solidFill>
                <a:latin typeface="Times New Roman" panose="02020603050405020304" pitchFamily="18" charset="0"/>
                <a:cs typeface="Times New Roman" panose="02020603050405020304" pitchFamily="18" charset="0"/>
              </a:rPr>
              <a:t> Utiliser des couleurs vives uniquement pour les points focaux ou les boutons d'action (CTA</a:t>
            </a:r>
            <a:r>
              <a:rPr lang="fr-FR" altLang="fr-FR" sz="2800" dirty="0" smtClean="0">
                <a:solidFill>
                  <a:schemeClr val="tx1"/>
                </a:solidFill>
                <a:latin typeface="Times New Roman" panose="02020603050405020304" pitchFamily="18" charset="0"/>
                <a:cs typeface="Times New Roman" panose="02020603050405020304" pitchFamily="18" charset="0"/>
              </a:rPr>
              <a:t>).</a:t>
            </a:r>
            <a:endParaRPr lang="fr-FR" altLang="fr-FR" sz="2800" dirty="0">
              <a:solidFill>
                <a:schemeClr val="tx1"/>
              </a:solidFill>
              <a:latin typeface="Times New Roman" panose="02020603050405020304" pitchFamily="18" charset="0"/>
              <a:cs typeface="Times New Roman" panose="02020603050405020304" pitchFamily="18" charset="0"/>
            </a:endParaRPr>
          </a:p>
          <a:p>
            <a:pPr marL="0" indent="0" algn="just">
              <a:lnSpc>
                <a:spcPct val="150000"/>
              </a:lnSpc>
              <a:buNone/>
            </a:pPr>
            <a:endParaRPr lang="fr-CM"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94257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979055" y="624110"/>
            <a:ext cx="10525557" cy="1280890"/>
          </a:xfrm>
        </p:spPr>
        <p:txBody>
          <a:bodyPr/>
          <a:lstStyle/>
          <a:p>
            <a:pPr algn="ctr"/>
            <a:r>
              <a:rPr lang="fr-FR" b="1" dirty="0" smtClean="0">
                <a:latin typeface="Times New Roman" panose="02020603050405020304" pitchFamily="18" charset="0"/>
                <a:cs typeface="Times New Roman" panose="02020603050405020304" pitchFamily="18" charset="0"/>
              </a:rPr>
              <a:t>PRINCIPES UX/UI DE PERFORMANCE D’UN CONTENU NUMÉRIQUE</a:t>
            </a:r>
            <a:endParaRPr lang="fr-CM" b="1" dirty="0"/>
          </a:p>
        </p:txBody>
      </p:sp>
      <p:sp>
        <p:nvSpPr>
          <p:cNvPr id="3" name="Espace réservé du contenu 2"/>
          <p:cNvSpPr>
            <a:spLocks noGrp="1"/>
          </p:cNvSpPr>
          <p:nvPr>
            <p:ph idx="1"/>
          </p:nvPr>
        </p:nvSpPr>
        <p:spPr>
          <a:xfrm>
            <a:off x="609601" y="2464954"/>
            <a:ext cx="10917382" cy="3416300"/>
          </a:xfrm>
        </p:spPr>
        <p:txBody>
          <a:bodyPr>
            <a:noAutofit/>
          </a:bodyPr>
          <a:lstStyle/>
          <a:p>
            <a:pPr lvl="0" algn="just" defTabSz="914400" eaLnBrk="0" fontAlgn="base" hangingPunct="0">
              <a:lnSpc>
                <a:spcPct val="150000"/>
              </a:lnSpc>
              <a:spcBef>
                <a:spcPct val="0"/>
              </a:spcBef>
              <a:spcAft>
                <a:spcPct val="0"/>
              </a:spcAft>
              <a:buClrTx/>
              <a:buSzTx/>
              <a:buFont typeface="Arial" panose="020B0604020202020204" pitchFamily="34" charset="0"/>
              <a:buChar char="•"/>
            </a:pPr>
            <a:r>
              <a:rPr lang="fr-FR" altLang="fr-FR" sz="2600" b="1" dirty="0">
                <a:solidFill>
                  <a:schemeClr val="tx1"/>
                </a:solidFill>
                <a:latin typeface="Times New Roman" panose="02020603050405020304" pitchFamily="18" charset="0"/>
                <a:cs typeface="Times New Roman" panose="02020603050405020304" pitchFamily="18" charset="0"/>
              </a:rPr>
              <a:t>Gestion des espaces blancs (</a:t>
            </a:r>
            <a:r>
              <a:rPr lang="fr-FR" altLang="fr-FR" sz="2600" b="1" dirty="0" err="1">
                <a:solidFill>
                  <a:schemeClr val="tx1"/>
                </a:solidFill>
                <a:latin typeface="Times New Roman" panose="02020603050405020304" pitchFamily="18" charset="0"/>
                <a:cs typeface="Times New Roman" panose="02020603050405020304" pitchFamily="18" charset="0"/>
              </a:rPr>
              <a:t>Negative</a:t>
            </a:r>
            <a:r>
              <a:rPr lang="fr-FR" altLang="fr-FR" sz="2600" b="1" dirty="0">
                <a:solidFill>
                  <a:schemeClr val="tx1"/>
                </a:solidFill>
                <a:latin typeface="Times New Roman" panose="02020603050405020304" pitchFamily="18" charset="0"/>
                <a:cs typeface="Times New Roman" panose="02020603050405020304" pitchFamily="18" charset="0"/>
              </a:rPr>
              <a:t> </a:t>
            </a:r>
            <a:r>
              <a:rPr lang="fr-FR" altLang="fr-FR" sz="2600" b="1" dirty="0" err="1">
                <a:solidFill>
                  <a:schemeClr val="tx1"/>
                </a:solidFill>
                <a:latin typeface="Times New Roman" panose="02020603050405020304" pitchFamily="18" charset="0"/>
                <a:cs typeface="Times New Roman" panose="02020603050405020304" pitchFamily="18" charset="0"/>
              </a:rPr>
              <a:t>Space</a:t>
            </a:r>
            <a:r>
              <a:rPr lang="fr-FR" altLang="fr-FR" sz="2600" b="1" dirty="0">
                <a:solidFill>
                  <a:schemeClr val="tx1"/>
                </a:solidFill>
                <a:latin typeface="Times New Roman" panose="02020603050405020304" pitchFamily="18" charset="0"/>
                <a:cs typeface="Times New Roman" panose="02020603050405020304" pitchFamily="18" charset="0"/>
              </a:rPr>
              <a:t>) :</a:t>
            </a:r>
            <a:r>
              <a:rPr lang="fr-FR" altLang="fr-FR" sz="2600" dirty="0">
                <a:solidFill>
                  <a:schemeClr val="tx1"/>
                </a:solidFill>
                <a:latin typeface="Times New Roman" panose="02020603050405020304" pitchFamily="18" charset="0"/>
                <a:cs typeface="Times New Roman" panose="02020603050405020304" pitchFamily="18" charset="0"/>
              </a:rPr>
              <a:t> L'espace vide n'est pas une perte de place ; il isole le contenu, offre une "respiration" visuelle et augmente le taux de compréhension de l'information en évitant l'effet de saturation. </a:t>
            </a:r>
          </a:p>
          <a:p>
            <a:pPr lvl="0" algn="just" defTabSz="914400" eaLnBrk="0" fontAlgn="base" hangingPunct="0">
              <a:lnSpc>
                <a:spcPct val="150000"/>
              </a:lnSpc>
              <a:spcBef>
                <a:spcPct val="0"/>
              </a:spcBef>
              <a:spcAft>
                <a:spcPct val="0"/>
              </a:spcAft>
              <a:buClrTx/>
              <a:buSzTx/>
              <a:buFont typeface="Arial" panose="020B0604020202020204" pitchFamily="34" charset="0"/>
              <a:buChar char="•"/>
            </a:pPr>
            <a:r>
              <a:rPr lang="fr-FR" altLang="fr-FR" sz="2600" b="1" dirty="0" smtClean="0">
                <a:solidFill>
                  <a:schemeClr val="tx1"/>
                </a:solidFill>
                <a:latin typeface="Times New Roman" panose="02020603050405020304" pitchFamily="18" charset="0"/>
                <a:cs typeface="Times New Roman" panose="02020603050405020304" pitchFamily="18" charset="0"/>
              </a:rPr>
              <a:t>Loi </a:t>
            </a:r>
            <a:r>
              <a:rPr lang="fr-FR" altLang="fr-FR" sz="2600" b="1" dirty="0">
                <a:solidFill>
                  <a:schemeClr val="tx1"/>
                </a:solidFill>
                <a:latin typeface="Times New Roman" panose="02020603050405020304" pitchFamily="18" charset="0"/>
                <a:cs typeface="Times New Roman" panose="02020603050405020304" pitchFamily="18" charset="0"/>
              </a:rPr>
              <a:t>de proximité (Regroupement) :</a:t>
            </a:r>
            <a:r>
              <a:rPr lang="fr-FR" altLang="fr-FR" sz="2600" dirty="0">
                <a:solidFill>
                  <a:schemeClr val="tx1"/>
                </a:solidFill>
                <a:latin typeface="Times New Roman" panose="02020603050405020304" pitchFamily="18" charset="0"/>
                <a:cs typeface="Times New Roman" panose="02020603050405020304" pitchFamily="18" charset="0"/>
              </a:rPr>
              <a:t> Les éléments graphiques proches les uns des autres (par exemple, une image et sa légende, ou un titre et son paragraphe) sont perçus comme faisant partie d'un même ensemble logique. Cela structure la lecture.</a:t>
            </a:r>
            <a:endParaRPr lang="fr-CM"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774025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a:spLocks noGrp="1"/>
          </p:cNvSpPr>
          <p:nvPr>
            <p:ph type="title"/>
          </p:nvPr>
        </p:nvSpPr>
        <p:spPr>
          <a:xfrm>
            <a:off x="1385455" y="624110"/>
            <a:ext cx="10119157" cy="1280890"/>
          </a:xfrm>
        </p:spPr>
        <p:txBody>
          <a:bodyPr/>
          <a:lstStyle/>
          <a:p>
            <a:pPr algn="ctr"/>
            <a:r>
              <a:rPr lang="fr-FR" b="1" dirty="0" smtClean="0">
                <a:latin typeface="Times New Roman" panose="02020603050405020304" pitchFamily="18" charset="0"/>
                <a:cs typeface="Times New Roman" panose="02020603050405020304" pitchFamily="18" charset="0"/>
              </a:rPr>
              <a:t>PRINCIPES UX/UI DE PERFORMANCE D’UN CONTENU NUMÉRIQUE</a:t>
            </a:r>
            <a:endParaRPr lang="fr-CM" b="1" dirty="0"/>
          </a:p>
        </p:txBody>
      </p:sp>
      <p:sp>
        <p:nvSpPr>
          <p:cNvPr id="4" name="Rectangle 1"/>
          <p:cNvSpPr>
            <a:spLocks noGrp="1" noChangeArrowheads="1"/>
          </p:cNvSpPr>
          <p:nvPr>
            <p:ph idx="1"/>
          </p:nvPr>
        </p:nvSpPr>
        <p:spPr bwMode="auto">
          <a:xfrm>
            <a:off x="581892" y="2247014"/>
            <a:ext cx="11028218" cy="412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fr-FR" altLang="fr-FR" sz="2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3. Les Standards d'Accessibilité et d'Utilisabilité</a:t>
            </a:r>
            <a:endParaRPr kumimoji="0" lang="fr-FR" altLang="fr-FR" sz="2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fr-FR" altLang="fr-FR" sz="2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Contraste et lisibilité :</a:t>
            </a:r>
            <a:r>
              <a:rPr kumimoji="0" lang="fr-FR" altLang="fr-FR" sz="2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choix de couleurs doivent respecter les normes d'accessibilité numérique (comme le RGAA ou les critères WCAG) pour garantir qu'un texte soit lisible même pour les personnes malvoyantes ou sous une forte luminosité extérieure. </a:t>
            </a:r>
          </a:p>
          <a:p>
            <a:pPr marL="0" marR="0" lvl="0" indent="0" algn="just" defTabSz="914400" rtl="0" eaLnBrk="0" fontAlgn="base" latinLnBrk="0" hangingPunct="0">
              <a:lnSpc>
                <a:spcPct val="150000"/>
              </a:lnSpc>
              <a:spcBef>
                <a:spcPct val="0"/>
              </a:spcBef>
              <a:spcAft>
                <a:spcPct val="0"/>
              </a:spcAft>
              <a:buClrTx/>
              <a:buSzTx/>
              <a:buNone/>
              <a:tabLst/>
            </a:pPr>
            <a:r>
              <a:rPr kumimoji="0" lang="fr-FR" altLang="fr-FR" sz="2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Responsive Design (Adaptabilité) :</a:t>
            </a:r>
            <a:r>
              <a:rPr kumimoji="0" lang="fr-FR" altLang="fr-FR" sz="2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 contenu numérique doit se réorganiser de manière fluide selon la taille de l'écran (smartphone, tablette, ordinateur). </a:t>
            </a:r>
          </a:p>
        </p:txBody>
      </p:sp>
    </p:spTree>
    <p:extLst>
      <p:ext uri="{BB962C8B-B14F-4D97-AF65-F5344CB8AC3E}">
        <p14:creationId xmlns:p14="http://schemas.microsoft.com/office/powerpoint/2010/main" val="19210933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39467" y="1311563"/>
            <a:ext cx="8915400" cy="3777622"/>
          </a:xfrm>
        </p:spPr>
        <p:txBody>
          <a:bodyPr/>
          <a:lstStyle/>
          <a:p>
            <a:pPr marL="0" indent="0" algn="ctr">
              <a:buNone/>
            </a:pPr>
            <a:endParaRPr lang="fr-FR" dirty="0" smtClean="0"/>
          </a:p>
          <a:p>
            <a:pPr marL="0" indent="0" algn="ctr">
              <a:buNone/>
            </a:pPr>
            <a:endParaRPr lang="fr-FR" dirty="0"/>
          </a:p>
          <a:p>
            <a:pPr marL="0" indent="0" algn="ctr">
              <a:buNone/>
            </a:pPr>
            <a:endParaRPr lang="fr-FR" dirty="0" smtClean="0"/>
          </a:p>
          <a:p>
            <a:pPr marL="0" indent="0" algn="ctr">
              <a:buNone/>
            </a:pPr>
            <a:endParaRPr lang="fr-FR" dirty="0"/>
          </a:p>
          <a:p>
            <a:pPr marL="0" indent="0" algn="ctr">
              <a:buNone/>
            </a:pPr>
            <a:r>
              <a:rPr lang="fr-FR" sz="4000" b="1" i="1" dirty="0" smtClean="0">
                <a:latin typeface="Times New Roman" panose="02020603050405020304" pitchFamily="18" charset="0"/>
                <a:cs typeface="Times New Roman" panose="02020603050405020304" pitchFamily="18" charset="0"/>
              </a:rPr>
              <a:t>FIN DU DEUXIEME MODULE</a:t>
            </a:r>
            <a:endParaRPr lang="fr-CM" sz="4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3837581"/>
      </p:ext>
    </p:extLst>
  </p:cSld>
  <p:clrMapOvr>
    <a:masterClrMapping/>
  </p:clrMapOvr>
  <p:timing>
    <p:tnLst>
      <p:par>
        <p:cTn id="1" dur="indefinite" restart="never" nodeType="tmRoot"/>
      </p:par>
    </p:tnLst>
  </p:timing>
</p:sld>
</file>

<file path=ppt/theme/theme1.xml><?xml version="1.0" encoding="utf-8"?>
<a:theme xmlns:a="http://schemas.openxmlformats.org/drawingml/2006/main" name="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2027</TotalTime>
  <Words>738</Words>
  <Application>Microsoft Office PowerPoint</Application>
  <PresentationFormat>Grand écran</PresentationFormat>
  <Paragraphs>113</Paragraphs>
  <Slides>26</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26</vt:i4>
      </vt:variant>
    </vt:vector>
  </HeadingPairs>
  <TitlesOfParts>
    <vt:vector size="32" baseType="lpstr">
      <vt:lpstr>Arial</vt:lpstr>
      <vt:lpstr>Century Gothic</vt:lpstr>
      <vt:lpstr>Times New Roman</vt:lpstr>
      <vt:lpstr>Wingdings</vt:lpstr>
      <vt:lpstr>Wingdings 3</vt:lpstr>
      <vt:lpstr>Brin</vt:lpstr>
      <vt:lpstr>Module 2 :</vt:lpstr>
      <vt:lpstr>LES MODÈLES DE CONCEPTION PÉDAGOGIQUE</vt:lpstr>
      <vt:lpstr>ETUDE DE TROIS MODELES DE CONCEPTION PEDAGOGIQUE</vt:lpstr>
      <vt:lpstr>LES PHASES DU MODELE ADDIE</vt:lpstr>
      <vt:lpstr>LES PHASES DU MODELE ADDIE</vt:lpstr>
      <vt:lpstr>LES PHASES DU MODELE ADDIE</vt:lpstr>
      <vt:lpstr>LES PHASES DU MODELE ADDIE</vt:lpstr>
      <vt:lpstr>LES PHASES DU MODELE ADDIE</vt:lpstr>
      <vt:lpstr>FONCTIONNEMENT ET AVANTAGES DU MODELE ADDIE</vt:lpstr>
      <vt:lpstr>Présentation PowerPoint</vt:lpstr>
      <vt:lpstr>Présentation PowerPoint</vt:lpstr>
      <vt:lpstr>Présentation PowerPoint</vt:lpstr>
      <vt:lpstr>Présentation PowerPoint</vt:lpstr>
      <vt:lpstr>Présentation PowerPoint</vt:lpstr>
      <vt:lpstr>Présentation PowerPoint</vt:lpstr>
      <vt:lpstr>LA SCENARISATION D’UN CONTENU EN LIGNE</vt:lpstr>
      <vt:lpstr>LES ÉTAPES CLÉS DE LA SCÉNARISATION DE CONTENUS</vt:lpstr>
      <vt:lpstr>LES ÉTAPES CLÉS DE LA SCÉNARISATION DE CONTENUS</vt:lpstr>
      <vt:lpstr>ERGONOMIE ET ACCESSIBILITE </vt:lpstr>
      <vt:lpstr>PRINCIPES UX/UI APPLIQUÉS A  « L’ERGONOMISATION »</vt:lpstr>
      <vt:lpstr> PRINCIPES UX/UI DE PERFORMANCE D’UN CONTENU NUMÉRIQUE</vt:lpstr>
      <vt:lpstr>PRINCIPES UX/UI DE PERFORMANCE D’UN CONTENU NUMÉRIQUE</vt:lpstr>
      <vt:lpstr>PRINCIPES UX/UI DE PERFORMANCE D’UN CONTENU NUMÉRIQUE</vt:lpstr>
      <vt:lpstr>PRINCIPES UX/UI DE PERFORMANCE D’UN CONTENU NUMÉRIQUE</vt:lpstr>
      <vt:lpstr>PRINCIPES UX/UI DE PERFORMANCE D’UN CONTENU NUMÉRIQUE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dc:title>
  <dc:creator>EmergenceComputer</dc:creator>
  <cp:lastModifiedBy>EmergenceComputer</cp:lastModifiedBy>
  <cp:revision>36</cp:revision>
  <dcterms:created xsi:type="dcterms:W3CDTF">2026-09-26T21:36:30Z</dcterms:created>
  <dcterms:modified xsi:type="dcterms:W3CDTF">2026-10-05T02:18:37Z</dcterms:modified>
</cp:coreProperties>
</file>