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6" r:id="rId9"/>
    <p:sldId id="262" r:id="rId10"/>
    <p:sldId id="287" r:id="rId11"/>
    <p:sldId id="288" r:id="rId12"/>
    <p:sldId id="263" r:id="rId13"/>
    <p:sldId id="289" r:id="rId14"/>
    <p:sldId id="283" r:id="rId15"/>
    <p:sldId id="284" r:id="rId16"/>
    <p:sldId id="290" r:id="rId17"/>
    <p:sldId id="291" r:id="rId18"/>
    <p:sldId id="285" r:id="rId19"/>
    <p:sldId id="281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1B6A4-4E9C-4DC8-8F1D-A4025753665A}" type="datetimeFigureOut">
              <a:rPr lang="fr-CM" smtClean="0"/>
              <a:t>19/10/2026</a:t>
            </a:fld>
            <a:endParaRPr lang="fr-CM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M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61460-4721-4475-8631-A77D33356478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659156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9068DD-5BDA-4F85-B3E7-942D2398B2D5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590807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47187-B2F9-4F5D-9BDF-86E4C37E6677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017313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7BBD0-2461-4D45-B4AA-59E625506940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6713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EEA5D-E1D7-4A8A-A577-57ADA077DC07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1126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F9DDB-A07E-459D-92D9-E719C896C348}" type="datetime1">
              <a:rPr lang="fr-CM" smtClean="0"/>
              <a:t>19/10/2026</a:t>
            </a:fld>
            <a:endParaRPr lang="fr-C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824062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89CF3-A470-4698-88AF-374BD2AEC98C}" type="datetime1">
              <a:rPr lang="fr-CM" smtClean="0"/>
              <a:t>19/10/2026</a:t>
            </a:fld>
            <a:endParaRPr lang="fr-C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522569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F2C0E-D3F0-4B24-89A5-F51DCCE235D7}" type="datetime1">
              <a:rPr lang="fr-CM" smtClean="0"/>
              <a:t>19/10/2026</a:t>
            </a:fld>
            <a:endParaRPr lang="fr-C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854969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4FCC-3AF7-4F73-84CD-47D17DD5E760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46663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ABE4F-9B5E-4054-869B-1044D32BD42F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536177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9DDD2-970E-4584-A932-C8314EF3715F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672016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720BE-A756-413A-9D21-03C5A860FAB3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687040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694A3A-1F3C-4CDC-8E9E-6778A510FB25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702316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6C185-B413-451E-BF51-D908143786C0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940457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EC6343-E83D-4313-9C21-F605D33BDB7C}" type="datetime1">
              <a:rPr lang="fr-CM" smtClean="0"/>
              <a:t>19/10/2026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98595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DB636-1358-4B1F-96FC-DCE6AA9CC8CD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120270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8107B-02D3-4316-8EDF-0DD00A0AC7B8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901677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3817BB-0ED1-4093-9318-CCCF5E99151B}" type="datetime1">
              <a:rPr lang="fr-CM" smtClean="0"/>
              <a:t>19/10/2026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964BABD-00CE-4233-B86A-DF8950FC160A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7793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h5p.org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11973" y="1019078"/>
            <a:ext cx="8825658" cy="1881140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</a:t>
            </a:r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914400" y="3225656"/>
            <a:ext cx="10464800" cy="1655762"/>
          </a:xfrm>
        </p:spPr>
        <p:txBody>
          <a:bodyPr anchor="ctr">
            <a:noAutofit/>
          </a:bodyPr>
          <a:lstStyle/>
          <a:p>
            <a:endParaRPr lang="fr-FR" sz="36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de contenus multimédia</a:t>
            </a:r>
            <a:endParaRPr lang="fr-CM" sz="5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1685477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39983" y="344822"/>
            <a:ext cx="9601196" cy="1303867"/>
          </a:xfrm>
        </p:spPr>
        <p:txBody>
          <a:bodyPr anchor="ctr">
            <a:normAutofit/>
          </a:bodyPr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CONTENUS INTERACTIFS AVEC H5P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80291" y="1648689"/>
            <a:ext cx="11249891" cy="4696693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H5P est une technologie libre et open-source (sous licence MIT) qui permet de créer, partager et réutiliser des contenus pédagogiques interactifs en HTML5 directement dans un navigateur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web. Elle est caractérisée notamment par: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C’est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outil libre et gratuit (via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www.H5P.org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Compatibilité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multi-appareils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Les contenus s'adaptent automatiquement aux ordinateurs, tablettes et téléphones intelligents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2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3823545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36073" y="624110"/>
            <a:ext cx="10978139" cy="1280890"/>
          </a:xfrm>
        </p:spPr>
        <p:txBody>
          <a:bodyPr>
            <a:normAutofit/>
          </a:bodyPr>
          <a:lstStyle/>
          <a:p>
            <a:pPr algn="ctr"/>
            <a:r>
              <a:rPr lang="fr-FR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CONTENUS INTERACTIFS AVEC H5P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26473" y="1424709"/>
            <a:ext cx="11055927" cy="49483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LMS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S'intègre nativement ou via des plugins dans des environnements d'apprentissage comme Moodle, WordPress,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Drupal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Canvas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Brightspace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Blackboard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H5P propose toute une panoplie d’outils et activités, au nombre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desquels: </a:t>
            </a:r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quiz, </a:t>
            </a:r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Vidéos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interactives, </a:t>
            </a:r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cours, </a:t>
            </a:r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Jeux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mémorisation, </a:t>
            </a:r>
            <a:r>
              <a:rPr lang="fr-FR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images </a:t>
            </a:r>
            <a:r>
              <a:rPr lang="fr-F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dirty="0"/>
          </a:p>
          <a:p>
            <a:pPr marL="0" indent="0" algn="just">
              <a:buNone/>
            </a:pP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3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0084634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9671" y="402437"/>
            <a:ext cx="10774939" cy="1280890"/>
          </a:xfrm>
        </p:spPr>
        <p:txBody>
          <a:bodyPr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quiz (Exercices d’évaluation)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0703" y="1301172"/>
            <a:ext cx="11092873" cy="34163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Ceci se fait notamment a travers: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exercices automatisés/interactifs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(pour valider les bases théoriques et techniques) a travers plusieurs catégories (les QCM et quiz de connaissance, les textes a trous, les glisser-déposer utiles pour tester l’organisation visuelle, par exemple pour reconstituer la structure type d’une page de vente efficace, les exercices de repérage ou de correction d’erreurs,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4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54567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20801" y="624110"/>
            <a:ext cx="10183812" cy="1280890"/>
          </a:xfrm>
        </p:spPr>
        <p:txBody>
          <a:bodyPr/>
          <a:lstStyle/>
          <a:p>
            <a:pPr algn="ctr"/>
            <a:r>
              <a:rPr lang="fr-FR" b="1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quiz (Exercices d’évaluation)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0492" y="1459347"/>
            <a:ext cx="10515600" cy="523701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notamment en soumettant un texte parsemé de fautes d’orthographe, de syntaxes lourdes, de réponses erronées, inadaptées)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exercices de mise en situation réelle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(pour juger de la qualité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créative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stratégique): Ceci se fait a travers des études de cas et  la résolution collaborative de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problèmes.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5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39330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28437" y="226947"/>
            <a:ext cx="10109921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Vidéos interactives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44946" y="1230745"/>
            <a:ext cx="11046691" cy="341630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60000"/>
              </a:lnSpc>
              <a:buNone/>
            </a:pPr>
            <a:r>
              <a:rPr lang="fr-F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vidéos interactives transforment les cours en ligne en impliquant directement l'apprenant, ce qui augmente l'attention et la mémorisation des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connaissances. Elles ont bon nombre d’avantages, pédagogiques notamment: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accru (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apprenants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acteurs de leur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parcours, contrairement aux vidéos classiques),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rétention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connaissances 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points de friction actifs (questions, choix)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pour améliorer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mémorisation), </a:t>
            </a:r>
            <a:endParaRPr lang="fr-CM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6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0342800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347019"/>
            <a:ext cx="8911687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Vidéos interactives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8909" y="1627909"/>
            <a:ext cx="10765703" cy="4202545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suivi de progression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(Les formateurs peuvent analyser les réponses aux quiz intégrés et identifier les notions à retravailler)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Ces vidéos interactives obéissent généralement a trois formats d’interactivité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Quiz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sondages intégrés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 questions apparaissent à des moments clés de la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la vidéo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peut de ce fait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rester en pause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jusqu’à ce que l’apprenant ait répondu</a:t>
            </a: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7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626822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Vidéos interactives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79055" y="1905000"/>
            <a:ext cx="10525557" cy="304564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Scénarios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ramifiés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vidéo propose des choix qui orientent l'apprenant vers différents modules ou suites personnalisées selon ses réponses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Ressources et pièces jointes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Ajout de liens, de PDF ou d'un mini-chat synchronisé directement dans le lecteur vidéo</a:t>
            </a: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8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1527603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42108" y="291601"/>
            <a:ext cx="10562503" cy="1280890"/>
          </a:xfrm>
        </p:spPr>
        <p:txBody>
          <a:bodyPr anchor="ctr"/>
          <a:lstStyle/>
          <a:p>
            <a:pPr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cours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1505" y="1505528"/>
            <a:ext cx="11203708" cy="495223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La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cours (ou introduction/syllabus) est l'étape clé dans la production d'un cours en ligne qui donne le ton, fixe le cadre et engage l'apprenant dès les premières minutes.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objectifs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d'une bonne présentation de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cours sont multiples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Clarification des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Indiquer précisément ce que l'apprenant sera capable de faire ou de savoir à l'issue de la formation.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9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63537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92925" y="153056"/>
            <a:ext cx="8911687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cours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71418" y="1302327"/>
            <a:ext cx="10433194" cy="377762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formateur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Établir sa légitimité, son parcours et sa connexion avec le sujet.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Définition du public cible et des prérequis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Préciser à qui s'adresse le cours (débutant, intermédiaire) et le matériel ou les compétences nécessaires. 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Poser le programme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Détailler la structure (modules, chapitres, capsules vidéo) et la durée estimée. </a:t>
            </a: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10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500941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cours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16000" y="2133600"/>
            <a:ext cx="10488612" cy="377762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Expliquer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modalités pédagogiques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Préciser comment s'articulent les vidéos, les quiz, les exercices pratiques et les éventuels temps d'échanges</a:t>
            </a:r>
          </a:p>
          <a:p>
            <a:pPr marL="0" indent="0">
              <a:buNone/>
            </a:pP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11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544432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26692" y="190000"/>
            <a:ext cx="10119157" cy="1297055"/>
          </a:xfrm>
        </p:spPr>
        <p:txBody>
          <a:bodyPr anchor="ctr">
            <a:normAutofit/>
          </a:bodyPr>
          <a:lstStyle/>
          <a:p>
            <a:pPr lvl="0"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Outils d’auteur 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7929" y="1487055"/>
            <a:ext cx="10436682" cy="4375727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dirty="0" smtClean="0"/>
              <a:t>		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 auteur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logiciel de création de contenus pédagogiques numériques (e-learning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 Les outils d’auteur regorgent de nombreux outils aidant a mettre sur pied des solutions bien utiles.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Ces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permettent de concevoir des modules interactifs (quiz, vidéos, scénarios) sans nécessiter de compétences en programmation. Ils génèrent des formats compatibles (SCORM, xAPI) avec les plateformes LMS (Learning Management System). </a:t>
            </a: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12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85975362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Outils d’auteur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85091" y="1905000"/>
            <a:ext cx="10719521" cy="400622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Logiciels indépendants (standalone)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Storyline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Adobe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Captivate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iSpring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Suite,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Lectora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Inspire.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Outils en ligne et intégrés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Genially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Didask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Beedeez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Différence clé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L'outil auteur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contenu, tandis que le LMS le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gère le suivi des apprenants.</a:t>
            </a:r>
          </a:p>
          <a:p>
            <a:pPr marL="0" indent="0">
              <a:buNone/>
            </a:pP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13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2282596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25964" y="162292"/>
            <a:ext cx="8562108" cy="1280890"/>
          </a:xfrm>
        </p:spPr>
        <p:txBody>
          <a:bodyPr/>
          <a:lstStyle/>
          <a:p>
            <a:pPr marL="0" indent="0"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Outils auteurs pour l'e-learning (Formation digitale)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0436" y="1443182"/>
            <a:ext cx="10765703" cy="377762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Ces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 permettent de concevoir des modules interactifs (quiz, vidéos, scénarios) sans nécessiter de compétences en programmation. Ils génèrent des formats compatibles (SCORM, xAPI) avec les plateformes LMS (Learning Management System). 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Les principaux outils a mettre en lumière sont les suivants: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Logiciels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indépendants (standalone</a:t>
            </a: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Outils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ligne et intégrés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Tx/>
              <a:buChar char="-"/>
            </a:pPr>
            <a:endParaRPr lang="fr-CM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14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77574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094161" y="0"/>
            <a:ext cx="8911687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outils d’auteur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11200" y="1280890"/>
            <a:ext cx="10793412" cy="463033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en existe toute une multitude, au rang desquels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Logiciels indépendants: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Storyline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Adobe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Captivate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iSpring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Suite,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Lectora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Inspire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FontTx/>
              <a:buChar char="-"/>
            </a:pP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Outils en ligne et intégrés: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Genially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Didask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Beedeez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Generator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Adapt</a:t>
            </a:r>
            <a:r>
              <a:rPr lang="fr-FR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15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242121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112634" y="263892"/>
            <a:ext cx="8911687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outils d’auteur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12800" y="1544782"/>
            <a:ext cx="10691812" cy="4366440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8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Articulate</a:t>
            </a:r>
            <a:r>
              <a:rPr lang="fr-FR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online: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Articulate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Storyline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un logiciel de référence conçu pour créer des modules de formation en ligne (e-learning), des simulations logicielles et des quiz interactifs. Ses principales fonctionnalités sont les suivantes: </a:t>
            </a:r>
            <a:r>
              <a:rPr lang="fr-C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familière(organisation en diapositives pour une prise en main rapide), une interactivité avancée(création des parcours personnalisés ou non linéaires)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C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Multimédia et IA (notamment l’utilisation d’un agent IA), </a:t>
            </a: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16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34213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8598" y="199237"/>
            <a:ext cx="8911687" cy="1280890"/>
          </a:xfrm>
        </p:spPr>
        <p:txBody>
          <a:bodyPr anchor="ctr"/>
          <a:lstStyle/>
          <a:p>
            <a:pPr algn="ctr"/>
            <a:r>
              <a:rPr lang="fr-FR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Quelques outils d’auteur</a:t>
            </a:r>
            <a:endParaRPr lang="fr-CM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7383" y="1727200"/>
            <a:ext cx="10747230" cy="4202495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C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compatibilité avec les LMS </a:t>
            </a:r>
            <a:r>
              <a:rPr lang="fr-CM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(grâce </a:t>
            </a:r>
            <a:r>
              <a:rPr lang="fr-C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 publication et l’exportation aux standards comme le format SCORM ou web) pour une intégration facile dans une plateforme d’apprentissage, une configuration requise (s’installe nativement sur </a:t>
            </a:r>
            <a:r>
              <a:rPr lang="fr-CM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fr-CM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fr-CM" sz="28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CM" sz="2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17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00718606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874983" y="624110"/>
            <a:ext cx="9629630" cy="1280890"/>
          </a:xfrm>
        </p:spPr>
        <p:txBody>
          <a:bodyPr>
            <a:normAutofit/>
          </a:bodyPr>
          <a:lstStyle/>
          <a:p>
            <a:pPr lvl="0" algn="ctr"/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Standardisation 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exportation et compatibilité aux normes 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SCORM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xAPI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fr-FR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CHERCHER</a:t>
            </a:r>
            <a:endParaRPr lang="fr-CM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18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425057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39467" y="1311563"/>
            <a:ext cx="8915400" cy="3777622"/>
          </a:xfrm>
        </p:spPr>
        <p:txBody>
          <a:bodyPr/>
          <a:lstStyle/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endParaRPr lang="fr-FR" dirty="0" smtClean="0"/>
          </a:p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sz="4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 DU TROISIEME MODULE</a:t>
            </a:r>
            <a:endParaRPr lang="fr-CM" sz="4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4BABD-00CE-4233-B86A-DF8950FC160A}" type="slidenum">
              <a:rPr lang="fr-CM" smtClean="0"/>
              <a:t>19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67383758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rin">
  <a:themeElements>
    <a:clrScheme name="Bri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Bri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ri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3217</TotalTime>
  <Words>539</Words>
  <Application>Microsoft Office PowerPoint</Application>
  <PresentationFormat>Grand écran</PresentationFormat>
  <Paragraphs>81</Paragraphs>
  <Slides>19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 3</vt:lpstr>
      <vt:lpstr>Brin</vt:lpstr>
      <vt:lpstr>Module 3 :</vt:lpstr>
      <vt:lpstr>CONTENUS INTERACTIFS AVEC H5P</vt:lpstr>
      <vt:lpstr>CONTENUS INTERACTIFS AVEC H5P</vt:lpstr>
      <vt:lpstr>Création de quiz (Exercices d’évaluation)</vt:lpstr>
      <vt:lpstr>Création de quiz (Exercices d’évaluation)</vt:lpstr>
      <vt:lpstr>Vidéos interactives</vt:lpstr>
      <vt:lpstr>Vidéos interactives</vt:lpstr>
      <vt:lpstr>Vidéos interactives</vt:lpstr>
      <vt:lpstr>Présentation de cours</vt:lpstr>
      <vt:lpstr>Présentation de cours</vt:lpstr>
      <vt:lpstr>Présentation de cours</vt:lpstr>
      <vt:lpstr>Outils d’auteur </vt:lpstr>
      <vt:lpstr>Outils d’auteur</vt:lpstr>
      <vt:lpstr>Outils auteurs pour l'e-learning (Formation digitale)</vt:lpstr>
      <vt:lpstr>Quelques outils d’auteur</vt:lpstr>
      <vt:lpstr>Quelques outils d’auteur</vt:lpstr>
      <vt:lpstr>Quelques outils d’auteur</vt:lpstr>
      <vt:lpstr>Standardisation : exportation et compatibilité aux normes SCORM et xAPI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 :</dc:title>
  <dc:creator>EmergenceComputer</dc:creator>
  <cp:lastModifiedBy>EmergenceComputer</cp:lastModifiedBy>
  <cp:revision>60</cp:revision>
  <dcterms:created xsi:type="dcterms:W3CDTF">2026-09-26T21:36:30Z</dcterms:created>
  <dcterms:modified xsi:type="dcterms:W3CDTF">2026-10-19T16:34:35Z</dcterms:modified>
</cp:coreProperties>
</file>